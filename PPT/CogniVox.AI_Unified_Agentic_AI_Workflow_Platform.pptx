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45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00575" y="1800225"/>
            <a:ext cx="428625" cy="14288"/>
          </a:xfrm>
          <a:prstGeom prst="rect">
            <a:avLst/>
          </a:prstGeom>
          <a:solidFill>
            <a:srgbClr val="00FFA3">
              <a:alpha val="4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 rot="10800000">
            <a:off x="4114800" y="3328988"/>
            <a:ext cx="357188" cy="14288"/>
          </a:xfrm>
          <a:prstGeom prst="rect">
            <a:avLst/>
          </a:prstGeom>
          <a:solidFill>
            <a:srgbClr val="00FFA3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674512"/>
            <a:ext cx="2306722" cy="4873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00D4FF"/>
                </a:solidFill>
              </a:rPr>
              <a:t>CogniVox.AI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28625" y="2297441"/>
            <a:ext cx="2056653" cy="1894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8EEF5">
                    <a:alpha val="95000"/>
                  </a:srgbClr>
                </a:solidFill>
              </a:rPr>
              <a:t>Unified Agentic AI Workflow Platform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2717471"/>
            <a:ext cx="4000500" cy="34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B0B8D4">
                    <a:alpha val="95000"/>
                  </a:srgbClr>
                </a:solidFill>
              </a:rPr>
              <a:t>Connecting HRMS, CRM, SQL QA, Sales Analysis, and Enterprise Applications through Intelligent Multi-Agent Architecture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8625" y="3297510"/>
            <a:ext cx="3218830" cy="1651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Helping every employee work smarter, faster, and more accurately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143000"/>
            <a:ext cx="4000500" cy="285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336573-D2CD-A651-2ACA-268626510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85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740628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The Business Problem: The Cost of Context Switching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14388"/>
            <a:ext cx="354103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>
                <a:solidFill>
                  <a:srgbClr val="B0B8D4"/>
                </a:solidFill>
              </a:rPr>
              <a:t>Enterprises struggle with fragmented systems and siloed knowledge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78719"/>
            <a:ext cx="3600450" cy="38826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314825" y="1178719"/>
            <a:ext cx="4400550" cy="7429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314825" y="1178719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" name="Shape 4"/>
          <p:cNvSpPr/>
          <p:nvPr/>
        </p:nvSpPr>
        <p:spPr>
          <a:xfrm>
            <a:off x="8708231" y="1178719"/>
            <a:ext cx="7144" cy="742950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" name="Shape 5"/>
          <p:cNvSpPr/>
          <p:nvPr/>
        </p:nvSpPr>
        <p:spPr>
          <a:xfrm>
            <a:off x="4314825" y="1914525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0" name="Shape 6"/>
          <p:cNvSpPr/>
          <p:nvPr/>
        </p:nvSpPr>
        <p:spPr>
          <a:xfrm>
            <a:off x="4314825" y="1178719"/>
            <a:ext cx="21431" cy="74295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1" name="Text 7"/>
          <p:cNvSpPr/>
          <p:nvPr/>
        </p:nvSpPr>
        <p:spPr>
          <a:xfrm>
            <a:off x="4557713" y="1307306"/>
            <a:ext cx="120225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>
                <a:solidFill>
                  <a:srgbClr val="00D4FF"/>
                </a:solidFill>
              </a:rPr>
              <a:t>System Fragmentation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457700" y="1500188"/>
            <a:ext cx="4114800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8EEF5">
                    <a:alpha val="90000"/>
                  </a:srgbClr>
                </a:solidFill>
              </a:rPr>
              <a:t>Enterprises run multiple, disconnected systems (HRMS, CRM, Finance, Support, Docs, SQL DBs)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14825" y="2014538"/>
            <a:ext cx="4400550" cy="60364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314825" y="2014538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708231" y="2014538"/>
            <a:ext cx="7144" cy="6036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314825" y="2611041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314825" y="2014538"/>
            <a:ext cx="21431" cy="603647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8" name="Text 14"/>
          <p:cNvSpPr/>
          <p:nvPr/>
        </p:nvSpPr>
        <p:spPr>
          <a:xfrm>
            <a:off x="4557713" y="2143125"/>
            <a:ext cx="96661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>
                <a:solidFill>
                  <a:srgbClr val="00D4FF"/>
                </a:solidFill>
              </a:rPr>
              <a:t>Productivity Drain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457700" y="2336006"/>
            <a:ext cx="4055597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>
                <a:solidFill>
                  <a:srgbClr val="E8EEF5">
                    <a:alpha val="90000"/>
                  </a:srgbClr>
                </a:solidFill>
              </a:rPr>
              <a:t>Employees waste significant time switching between software to find answers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314825" y="2711053"/>
            <a:ext cx="4400550" cy="7429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4314825" y="2711053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2" name="Shape 18"/>
          <p:cNvSpPr/>
          <p:nvPr/>
        </p:nvSpPr>
        <p:spPr>
          <a:xfrm>
            <a:off x="8708231" y="2711053"/>
            <a:ext cx="7144" cy="742950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3" name="Shape 19"/>
          <p:cNvSpPr/>
          <p:nvPr/>
        </p:nvSpPr>
        <p:spPr>
          <a:xfrm>
            <a:off x="4314825" y="3446859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4" name="Shape 20"/>
          <p:cNvSpPr/>
          <p:nvPr/>
        </p:nvSpPr>
        <p:spPr>
          <a:xfrm>
            <a:off x="4314825" y="2711053"/>
            <a:ext cx="21431" cy="74295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25" name="Text 21"/>
          <p:cNvSpPr/>
          <p:nvPr/>
        </p:nvSpPr>
        <p:spPr>
          <a:xfrm>
            <a:off x="4557713" y="2839641"/>
            <a:ext cx="8688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>
                <a:solidFill>
                  <a:srgbClr val="00D4FF"/>
                </a:solidFill>
              </a:rPr>
              <a:t>Knowledge Silos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457700" y="3032522"/>
            <a:ext cx="4114800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>
                <a:solidFill>
                  <a:srgbClr val="E8EEF5">
                    <a:alpha val="90000"/>
                  </a:srgbClr>
                </a:solidFill>
              </a:rPr>
              <a:t>Critical knowledge becomes siloed, outdated, or hard to retrieve, leading to inconsistent decisions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314825" y="3546872"/>
            <a:ext cx="4400550" cy="60364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4314825" y="3546872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9" name="Shape 25"/>
          <p:cNvSpPr/>
          <p:nvPr/>
        </p:nvSpPr>
        <p:spPr>
          <a:xfrm>
            <a:off x="8708231" y="3546872"/>
            <a:ext cx="7144" cy="603647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0" name="Shape 26"/>
          <p:cNvSpPr/>
          <p:nvPr/>
        </p:nvSpPr>
        <p:spPr>
          <a:xfrm>
            <a:off x="4314825" y="4143375"/>
            <a:ext cx="440055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1" name="Shape 27"/>
          <p:cNvSpPr/>
          <p:nvPr/>
        </p:nvSpPr>
        <p:spPr>
          <a:xfrm>
            <a:off x="4314825" y="3546872"/>
            <a:ext cx="21431" cy="603647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2" name="Text 28"/>
          <p:cNvSpPr/>
          <p:nvPr/>
        </p:nvSpPr>
        <p:spPr>
          <a:xfrm>
            <a:off x="4557713" y="3675459"/>
            <a:ext cx="92493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>
                <a:solidFill>
                  <a:srgbClr val="00D4FF"/>
                </a:solidFill>
              </a:rPr>
              <a:t>Manual Overload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457700" y="3868341"/>
            <a:ext cx="435696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>
                <a:solidFill>
                  <a:srgbClr val="E8EEF5">
                    <a:alpha val="90000"/>
                  </a:srgbClr>
                </a:solidFill>
              </a:rPr>
              <a:t>Support teams are burdened with repetitive queries and manual, high-volume tasks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314825" y="4386263"/>
            <a:ext cx="4400550" cy="617934"/>
          </a:xfrm>
          <a:prstGeom prst="rect">
            <a:avLst/>
          </a:prstGeom>
          <a:solidFill>
            <a:srgbClr val="00FFA3">
              <a:alpha val="5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457700" y="4514850"/>
            <a:ext cx="266868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kern="0" spc="1">
                <a:solidFill>
                  <a:srgbClr val="00FFA3"/>
                </a:solidFill>
              </a:rPr>
              <a:t>Result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457700" y="4711303"/>
            <a:ext cx="2786019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>
                <a:solidFill>
                  <a:srgbClr val="E8EEF5"/>
                </a:solidFill>
              </a:rPr>
              <a:t>Productivity Loss • Slow Decisions • Inefficient Workflows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3F12324-8494-C572-8F15-85F45525D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06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384761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The Vision: One Interface. Zero Context Switching.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14388"/>
            <a:ext cx="3082575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A single intelligent assistant that transforms enterprise workflows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28625" y="1178719"/>
            <a:ext cx="4400550" cy="60364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78719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7" name="Shape 4"/>
          <p:cNvSpPr/>
          <p:nvPr/>
        </p:nvSpPr>
        <p:spPr>
          <a:xfrm>
            <a:off x="4822031" y="1178719"/>
            <a:ext cx="7144" cy="603647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775222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178719"/>
            <a:ext cx="21431" cy="603647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0" name="Text 7"/>
          <p:cNvSpPr/>
          <p:nvPr/>
        </p:nvSpPr>
        <p:spPr>
          <a:xfrm>
            <a:off x="671513" y="1310878"/>
            <a:ext cx="1181414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Understands User Intent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1503759"/>
            <a:ext cx="3616375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Interprets complex, multi-step requests with natural language understanding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8625" y="1878806"/>
            <a:ext cx="4400550" cy="60364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1878806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14" name="Shape 11"/>
          <p:cNvSpPr/>
          <p:nvPr/>
        </p:nvSpPr>
        <p:spPr>
          <a:xfrm>
            <a:off x="4822031" y="1878806"/>
            <a:ext cx="7144" cy="603647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475309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1878806"/>
            <a:ext cx="21431" cy="603647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7" name="Text 14"/>
          <p:cNvSpPr/>
          <p:nvPr/>
        </p:nvSpPr>
        <p:spPr>
          <a:xfrm>
            <a:off x="671513" y="2014538"/>
            <a:ext cx="788677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Pulls Knowledge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1500" y="2207419"/>
            <a:ext cx="346248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Seamlessly accesses and synthesizes knowledge from all business systems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625" y="2582466"/>
            <a:ext cx="4400550" cy="60364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2582466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1" name="Shape 18"/>
          <p:cNvSpPr/>
          <p:nvPr/>
        </p:nvSpPr>
        <p:spPr>
          <a:xfrm>
            <a:off x="4822031" y="2582466"/>
            <a:ext cx="7144" cy="603647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178969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2582466"/>
            <a:ext cx="21431" cy="603647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4" name="Text 21"/>
          <p:cNvSpPr/>
          <p:nvPr/>
        </p:nvSpPr>
        <p:spPr>
          <a:xfrm>
            <a:off x="671513" y="2718197"/>
            <a:ext cx="613951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Takes Action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" y="2911078"/>
            <a:ext cx="3064942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Executes tasks and updates records directly in enterprise systems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28625" y="3286125"/>
            <a:ext cx="4400550" cy="60364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3286125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8" name="Shape 25"/>
          <p:cNvSpPr/>
          <p:nvPr/>
        </p:nvSpPr>
        <p:spPr>
          <a:xfrm>
            <a:off x="4822031" y="3286125"/>
            <a:ext cx="7144" cy="603647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3882628"/>
            <a:ext cx="4400550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3286125"/>
            <a:ext cx="21431" cy="603647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31" name="Text 28"/>
          <p:cNvSpPr/>
          <p:nvPr/>
        </p:nvSpPr>
        <p:spPr>
          <a:xfrm>
            <a:off x="671513" y="3421856"/>
            <a:ext cx="787075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Learns &amp; Adapts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71500" y="3614738"/>
            <a:ext cx="3047309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Continuously improves from every user interaction and feedback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28625" y="4132659"/>
            <a:ext cx="4400550" cy="628650"/>
          </a:xfrm>
          <a:prstGeom prst="rect">
            <a:avLst/>
          </a:prstGeom>
          <a:solidFill>
            <a:srgbClr val="7B2FF7">
              <a:alpha val="5000"/>
            </a:srgbClr>
          </a:solidFill>
          <a:ln w="9144">
            <a:solidFill>
              <a:srgbClr val="00FFA3">
                <a:alpha val="2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1500" y="4268391"/>
            <a:ext cx="572080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kern="0" spc="1" dirty="0">
                <a:solidFill>
                  <a:srgbClr val="00D4FF"/>
                </a:solidFill>
              </a:rPr>
              <a:t>The Outcome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71500" y="4464844"/>
            <a:ext cx="2866169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One interface. Zero context switching. Maximum efficiency.</a:t>
            </a:r>
            <a:endParaRPr lang="en-US" sz="9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925" y="1178719"/>
            <a:ext cx="3600450" cy="360759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AD5AF6E-EC36-42A9-1648-C2A86A69C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99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5259517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The Technical Differentiator: Agentic RAG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757238"/>
            <a:ext cx="270747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B0B8D4"/>
                </a:solidFill>
              </a:rPr>
              <a:t>Beyond traditional RAG: A working digital co-worker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28625" y="1324831"/>
            <a:ext cx="3857625" cy="114869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24831"/>
            <a:ext cx="3857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7" name="Shape 4"/>
          <p:cNvSpPr/>
          <p:nvPr/>
        </p:nvSpPr>
        <p:spPr>
          <a:xfrm>
            <a:off x="4279106" y="1324831"/>
            <a:ext cx="7144" cy="1148693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466380"/>
            <a:ext cx="3857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324831"/>
            <a:ext cx="21431" cy="1148693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0" name="Text 7"/>
          <p:cNvSpPr/>
          <p:nvPr/>
        </p:nvSpPr>
        <p:spPr>
          <a:xfrm>
            <a:off x="650081" y="1446275"/>
            <a:ext cx="76655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kern="0" spc="1" dirty="0">
                <a:solidFill>
                  <a:srgbClr val="7B2FF7"/>
                </a:solidFill>
              </a:rPr>
              <a:t>Traditional RAG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7213" y="1632012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1513" y="1640942"/>
            <a:ext cx="1261564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Retrieval: Find information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7213" y="1812029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1513" y="1820959"/>
            <a:ext cx="1421864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Generation: Answer questions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7213" y="1992046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1513" y="2000976"/>
            <a:ext cx="1367362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Limited to knowledge lookup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7213" y="2172063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1513" y="2180992"/>
            <a:ext cx="852798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No system actions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625" y="2580680"/>
            <a:ext cx="3857625" cy="1148693"/>
          </a:xfrm>
          <a:prstGeom prst="rect">
            <a:avLst/>
          </a:prstGeom>
          <a:solidFill>
            <a:srgbClr val="00FFA3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2580680"/>
            <a:ext cx="3857625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1" name="Shape 18"/>
          <p:cNvSpPr/>
          <p:nvPr/>
        </p:nvSpPr>
        <p:spPr>
          <a:xfrm>
            <a:off x="4279106" y="2580680"/>
            <a:ext cx="7144" cy="1148693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722229"/>
            <a:ext cx="3857625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2580680"/>
            <a:ext cx="21431" cy="1148693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24" name="Text 21"/>
          <p:cNvSpPr/>
          <p:nvPr/>
        </p:nvSpPr>
        <p:spPr>
          <a:xfrm>
            <a:off x="650081" y="2702123"/>
            <a:ext cx="1079783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kern="0" spc="1" dirty="0">
                <a:solidFill>
                  <a:srgbClr val="00FFA3"/>
                </a:solidFill>
              </a:rPr>
              <a:t>CogniVox Agentic RAG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7213" y="2887861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1513" y="2896791"/>
            <a:ext cx="1335302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Think: Reasoning &amp; planning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7213" y="3067878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1513" y="3076808"/>
            <a:ext cx="1325684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Retrieve: Precise knowledge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7213" y="3247895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71513" y="3256824"/>
            <a:ext cx="1242328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Decide: Tool orchestration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7213" y="3427912"/>
            <a:ext cx="104196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→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71513" y="3436841"/>
            <a:ext cx="1317668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Act: Multi-system execution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28625" y="3950829"/>
            <a:ext cx="3857625" cy="717947"/>
          </a:xfrm>
          <a:prstGeom prst="rect">
            <a:avLst/>
          </a:prstGeom>
          <a:solidFill>
            <a:srgbClr val="00FFA3">
              <a:alpha val="8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213" y="4072272"/>
            <a:ext cx="61068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b="1" kern="0" spc="1" dirty="0">
                <a:solidFill>
                  <a:srgbClr val="00D4FF"/>
                </a:solidFill>
              </a:rPr>
              <a:t>Key Takeaway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57213" y="4247294"/>
            <a:ext cx="360045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0FFA3"/>
                </a:solidFill>
              </a:rPr>
              <a:t>This is not just a chatbot—this is a working, autonomous digital co-worker.</a:t>
            </a:r>
            <a:endParaRPr lang="en-US" sz="10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218009"/>
            <a:ext cx="3857625" cy="35718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CFA985C-6F89-C7F5-122E-DE7A2991C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3066609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High-Level Architecture: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57188" y="714375"/>
            <a:ext cx="2045432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First three layers of the unified agentic flow</a:t>
            </a:r>
            <a:endParaRPr lang="en-US" sz="9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4F88877-B971-B1ED-7F98-AEF290B9E087}"/>
              </a:ext>
            </a:extLst>
          </p:cNvPr>
          <p:cNvGrpSpPr/>
          <p:nvPr/>
        </p:nvGrpSpPr>
        <p:grpSpPr>
          <a:xfrm>
            <a:off x="352730" y="1013671"/>
            <a:ext cx="4292243" cy="3945591"/>
            <a:chOff x="352730" y="1013671"/>
            <a:chExt cx="4292243" cy="3945591"/>
          </a:xfrm>
        </p:grpSpPr>
        <p:sp>
          <p:nvSpPr>
            <p:cNvPr id="5" name="Shape 2"/>
            <p:cNvSpPr/>
            <p:nvPr/>
          </p:nvSpPr>
          <p:spPr>
            <a:xfrm>
              <a:off x="352730" y="1013671"/>
              <a:ext cx="4290626" cy="585788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  <p:txBody>
            <a:bodyPr/>
            <a:lstStyle/>
            <a:p>
              <a:endParaRPr lang="en-IN" sz="20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352730" y="1013671"/>
              <a:ext cx="429062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7" name="Shape 4"/>
            <p:cNvSpPr/>
            <p:nvPr/>
          </p:nvSpPr>
          <p:spPr>
            <a:xfrm>
              <a:off x="4638308" y="1013671"/>
              <a:ext cx="5048" cy="585788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8" name="Shape 5"/>
            <p:cNvSpPr/>
            <p:nvPr/>
          </p:nvSpPr>
          <p:spPr>
            <a:xfrm>
              <a:off x="352730" y="1592314"/>
              <a:ext cx="429062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9" name="Shape 6"/>
            <p:cNvSpPr/>
            <p:nvPr/>
          </p:nvSpPr>
          <p:spPr>
            <a:xfrm>
              <a:off x="352730" y="1013671"/>
              <a:ext cx="15143" cy="585788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443591" y="1135114"/>
              <a:ext cx="242294" cy="342900"/>
            </a:xfrm>
            <a:prstGeom prst="rect">
              <a:avLst/>
            </a:prstGeom>
            <a:solidFill>
              <a:srgbClr val="00D4FF">
                <a:alpha val="10000"/>
              </a:srgbClr>
            </a:solidFill>
            <a:ln w="9144">
              <a:solidFill>
                <a:srgbClr val="00D4FF">
                  <a:alpha val="30000"/>
                </a:srgbClr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441307" y="1187396"/>
              <a:ext cx="246863" cy="2383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lnSpc>
                  <a:spcPts val="2000"/>
                </a:lnSpc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👤</a:t>
              </a:r>
              <a:endParaRPr lang="en-US" sz="14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76745" y="1113731"/>
              <a:ext cx="1064394" cy="1458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00D4FF"/>
                  </a:solidFill>
                </a:rPr>
                <a:t>User Interaction Layer</a:t>
              </a:r>
              <a:endParaRPr lang="en-US" sz="9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76745" y="1292325"/>
              <a:ext cx="3550652" cy="2308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Chat, voice, email, and workflow triggers—multiple input channels for seamless user </a:t>
              </a:r>
            </a:p>
            <a:p>
              <a:pPr marL="0" indent="0" algn="l">
                <a:lnSpc>
                  <a:spcPts val="9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engagement</a:t>
              </a:r>
              <a:endParaRPr lang="en-US" sz="8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519902" y="2107406"/>
              <a:ext cx="104196" cy="165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900" dirty="0">
                  <a:solidFill>
                    <a:srgbClr val="7B2FF7">
                      <a:alpha val="50000"/>
                    </a:srgbClr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352730" y="1715636"/>
              <a:ext cx="4290626" cy="585788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</p:sp>
        <p:sp>
          <p:nvSpPr>
            <p:cNvPr id="16" name="Shape 13"/>
            <p:cNvSpPr/>
            <p:nvPr/>
          </p:nvSpPr>
          <p:spPr>
            <a:xfrm>
              <a:off x="352730" y="1715636"/>
              <a:ext cx="429062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17" name="Shape 14"/>
            <p:cNvSpPr/>
            <p:nvPr/>
          </p:nvSpPr>
          <p:spPr>
            <a:xfrm>
              <a:off x="4638308" y="1715636"/>
              <a:ext cx="5048" cy="585788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18" name="Shape 15"/>
            <p:cNvSpPr/>
            <p:nvPr/>
          </p:nvSpPr>
          <p:spPr>
            <a:xfrm>
              <a:off x="352730" y="2294280"/>
              <a:ext cx="429062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19" name="Shape 16"/>
            <p:cNvSpPr/>
            <p:nvPr/>
          </p:nvSpPr>
          <p:spPr>
            <a:xfrm>
              <a:off x="352730" y="1715636"/>
              <a:ext cx="15143" cy="585788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20" name="Shape 17"/>
            <p:cNvSpPr/>
            <p:nvPr/>
          </p:nvSpPr>
          <p:spPr>
            <a:xfrm>
              <a:off x="443591" y="1837080"/>
              <a:ext cx="242294" cy="342900"/>
            </a:xfrm>
            <a:prstGeom prst="rect">
              <a:avLst/>
            </a:prstGeom>
            <a:solidFill>
              <a:srgbClr val="00D4FF">
                <a:alpha val="10000"/>
              </a:srgbClr>
            </a:solidFill>
            <a:ln w="9144">
              <a:solidFill>
                <a:srgbClr val="00D4FF">
                  <a:alpha val="30000"/>
                </a:srgbClr>
              </a:solidFill>
              <a:prstDash val="solid"/>
            </a:ln>
          </p:spPr>
        </p:sp>
        <p:sp>
          <p:nvSpPr>
            <p:cNvPr id="21" name="Text 18"/>
            <p:cNvSpPr/>
            <p:nvPr/>
          </p:nvSpPr>
          <p:spPr>
            <a:xfrm>
              <a:off x="441307" y="1889362"/>
              <a:ext cx="246863" cy="2383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lnSpc>
                  <a:spcPts val="2000"/>
                </a:lnSpc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🎯</a:t>
              </a:r>
              <a:endParaRPr lang="en-US" sz="14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776745" y="1815697"/>
              <a:ext cx="1191032" cy="1458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00D4FF"/>
                  </a:solidFill>
                </a:rPr>
                <a:t>Multi-Agent Coordinator</a:t>
              </a:r>
              <a:endParaRPr lang="en-US" sz="9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776745" y="1994291"/>
              <a:ext cx="3794307" cy="2308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The intelligent brain that supervises and routes requests to the correct specialized agent or</a:t>
              </a:r>
            </a:p>
            <a:p>
              <a:pPr marL="0" indent="0" algn="l">
                <a:lnSpc>
                  <a:spcPts val="9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tool</a:t>
              </a:r>
              <a:endParaRPr lang="en-US" sz="8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519902" y="3028950"/>
              <a:ext cx="104196" cy="165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900" dirty="0">
                  <a:solidFill>
                    <a:srgbClr val="7B2FF7">
                      <a:alpha val="50000"/>
                    </a:srgbClr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352730" y="2417601"/>
              <a:ext cx="4285578" cy="585788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</p:sp>
        <p:sp>
          <p:nvSpPr>
            <p:cNvPr id="26" name="Shape 23"/>
            <p:cNvSpPr/>
            <p:nvPr/>
          </p:nvSpPr>
          <p:spPr>
            <a:xfrm>
              <a:off x="352730" y="2417601"/>
              <a:ext cx="4285578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27" name="Shape 24"/>
            <p:cNvSpPr/>
            <p:nvPr/>
          </p:nvSpPr>
          <p:spPr>
            <a:xfrm>
              <a:off x="4633266" y="2417601"/>
              <a:ext cx="5042" cy="585788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28" name="Shape 25"/>
            <p:cNvSpPr/>
            <p:nvPr/>
          </p:nvSpPr>
          <p:spPr>
            <a:xfrm>
              <a:off x="352730" y="2996245"/>
              <a:ext cx="4285578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29" name="Shape 26"/>
            <p:cNvSpPr/>
            <p:nvPr/>
          </p:nvSpPr>
          <p:spPr>
            <a:xfrm>
              <a:off x="352730" y="2417601"/>
              <a:ext cx="15125" cy="585788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30" name="Shape 27"/>
            <p:cNvSpPr/>
            <p:nvPr/>
          </p:nvSpPr>
          <p:spPr>
            <a:xfrm>
              <a:off x="443484" y="2539045"/>
              <a:ext cx="242009" cy="342900"/>
            </a:xfrm>
            <a:prstGeom prst="rect">
              <a:avLst/>
            </a:prstGeom>
            <a:solidFill>
              <a:srgbClr val="00D4FF">
                <a:alpha val="10000"/>
              </a:srgbClr>
            </a:solidFill>
            <a:ln w="9144">
              <a:solidFill>
                <a:srgbClr val="00D4FF">
                  <a:alpha val="30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441057" y="2591327"/>
              <a:ext cx="246863" cy="2383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lnSpc>
                  <a:spcPts val="2000"/>
                </a:lnSpc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🔒</a:t>
              </a:r>
              <a:endParaRPr lang="en-US" sz="14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776246" y="2517662"/>
              <a:ext cx="1082027" cy="1458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00D4FF"/>
                  </a:solidFill>
                </a:rPr>
                <a:t>API &amp; Guardrails Layer</a:t>
              </a:r>
              <a:endParaRPr lang="en-US" sz="900" dirty="0"/>
            </a:p>
          </p:txBody>
        </p:sp>
        <p:sp>
          <p:nvSpPr>
            <p:cNvPr id="33" name="Text 30"/>
            <p:cNvSpPr/>
            <p:nvPr/>
          </p:nvSpPr>
          <p:spPr>
            <a:xfrm>
              <a:off x="776246" y="2696255"/>
              <a:ext cx="3390352" cy="2308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9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Ensures authentication, compliance, audit logging, and safe-response filtering for</a:t>
              </a:r>
            </a:p>
            <a:p>
              <a:pPr marL="0" indent="0" algn="l">
                <a:lnSpc>
                  <a:spcPts val="9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enterprise security</a:t>
              </a:r>
              <a:endParaRPr lang="en-US" sz="800" dirty="0"/>
            </a:p>
          </p:txBody>
        </p:sp>
        <p:sp>
          <p:nvSpPr>
            <p:cNvPr id="71" name="Shape 2">
              <a:extLst>
                <a:ext uri="{FF2B5EF4-FFF2-40B4-BE49-F238E27FC236}">
                  <a16:creationId xmlns:a16="http://schemas.microsoft.com/office/drawing/2014/main" id="{590B467D-D616-E99E-DCFF-1BD67B03BA56}"/>
                </a:ext>
              </a:extLst>
            </p:cNvPr>
            <p:cNvSpPr/>
            <p:nvPr/>
          </p:nvSpPr>
          <p:spPr>
            <a:xfrm>
              <a:off x="352731" y="3119566"/>
              <a:ext cx="4292242" cy="535781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</p:sp>
        <p:sp>
          <p:nvSpPr>
            <p:cNvPr id="72" name="Shape 3">
              <a:extLst>
                <a:ext uri="{FF2B5EF4-FFF2-40B4-BE49-F238E27FC236}">
                  <a16:creationId xmlns:a16="http://schemas.microsoft.com/office/drawing/2014/main" id="{F34752AC-C2D0-275E-533B-228B0C9AE5C9}"/>
                </a:ext>
              </a:extLst>
            </p:cNvPr>
            <p:cNvSpPr/>
            <p:nvPr/>
          </p:nvSpPr>
          <p:spPr>
            <a:xfrm>
              <a:off x="352731" y="3119566"/>
              <a:ext cx="4292242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73" name="Shape 4">
              <a:extLst>
                <a:ext uri="{FF2B5EF4-FFF2-40B4-BE49-F238E27FC236}">
                  <a16:creationId xmlns:a16="http://schemas.microsoft.com/office/drawing/2014/main" id="{883642E6-7CC4-961D-440D-FCD30AD05BD7}"/>
                </a:ext>
              </a:extLst>
            </p:cNvPr>
            <p:cNvSpPr/>
            <p:nvPr/>
          </p:nvSpPr>
          <p:spPr>
            <a:xfrm>
              <a:off x="4640204" y="3119566"/>
              <a:ext cx="4769" cy="535781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74" name="Shape 5">
              <a:extLst>
                <a:ext uri="{FF2B5EF4-FFF2-40B4-BE49-F238E27FC236}">
                  <a16:creationId xmlns:a16="http://schemas.microsoft.com/office/drawing/2014/main" id="{B0FDEE0F-1952-DACF-B38C-D62790B6484E}"/>
                </a:ext>
              </a:extLst>
            </p:cNvPr>
            <p:cNvSpPr/>
            <p:nvPr/>
          </p:nvSpPr>
          <p:spPr>
            <a:xfrm>
              <a:off x="352731" y="3648204"/>
              <a:ext cx="4292242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75" name="Shape 6">
              <a:extLst>
                <a:ext uri="{FF2B5EF4-FFF2-40B4-BE49-F238E27FC236}">
                  <a16:creationId xmlns:a16="http://schemas.microsoft.com/office/drawing/2014/main" id="{53260F72-55DD-6763-58D2-C722E4BF2483}"/>
                </a:ext>
              </a:extLst>
            </p:cNvPr>
            <p:cNvSpPr/>
            <p:nvPr/>
          </p:nvSpPr>
          <p:spPr>
            <a:xfrm>
              <a:off x="352731" y="3119566"/>
              <a:ext cx="14307" cy="535781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76" name="Shape 7">
              <a:extLst>
                <a:ext uri="{FF2B5EF4-FFF2-40B4-BE49-F238E27FC236}">
                  <a16:creationId xmlns:a16="http://schemas.microsoft.com/office/drawing/2014/main" id="{E7D941A6-5DE8-6F84-110B-0084C49BB37D}"/>
                </a:ext>
              </a:extLst>
            </p:cNvPr>
            <p:cNvSpPr/>
            <p:nvPr/>
          </p:nvSpPr>
          <p:spPr>
            <a:xfrm>
              <a:off x="438576" y="3226722"/>
              <a:ext cx="214612" cy="321469"/>
            </a:xfrm>
            <a:prstGeom prst="rect">
              <a:avLst/>
            </a:prstGeom>
            <a:solidFill>
              <a:srgbClr val="00D4FF">
                <a:alpha val="10000"/>
              </a:srgbClr>
            </a:solidFill>
            <a:ln w="9144">
              <a:solidFill>
                <a:srgbClr val="00D4FF">
                  <a:alpha val="30000"/>
                </a:srgbClr>
              </a:solidFill>
              <a:prstDash val="solid"/>
            </a:ln>
          </p:spPr>
        </p:sp>
        <p:sp>
          <p:nvSpPr>
            <p:cNvPr id="77" name="Text 8">
              <a:extLst>
                <a:ext uri="{FF2B5EF4-FFF2-40B4-BE49-F238E27FC236}">
                  <a16:creationId xmlns:a16="http://schemas.microsoft.com/office/drawing/2014/main" id="{2363D4BC-0455-E5FC-454D-B02584DD28B5}"/>
                </a:ext>
              </a:extLst>
            </p:cNvPr>
            <p:cNvSpPr/>
            <p:nvPr/>
          </p:nvSpPr>
          <p:spPr>
            <a:xfrm>
              <a:off x="440084" y="3276368"/>
              <a:ext cx="211596" cy="2221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lnSpc>
                  <a:spcPts val="1900"/>
                </a:lnSpc>
                <a:buNone/>
              </a:pPr>
              <a:r>
                <a:rPr lang="en-US" sz="1200" dirty="0">
                  <a:solidFill>
                    <a:srgbClr val="00D4FF"/>
                  </a:solidFill>
                </a:rPr>
                <a:t>🔗</a:t>
              </a:r>
              <a:endParaRPr lang="en-US" sz="1200" dirty="0"/>
            </a:p>
          </p:txBody>
        </p:sp>
        <p:sp>
          <p:nvSpPr>
            <p:cNvPr id="78" name="Text 9">
              <a:extLst>
                <a:ext uri="{FF2B5EF4-FFF2-40B4-BE49-F238E27FC236}">
                  <a16:creationId xmlns:a16="http://schemas.microsoft.com/office/drawing/2014/main" id="{D849732A-2083-2A6C-0401-2FD944AC432C}"/>
                </a:ext>
              </a:extLst>
            </p:cNvPr>
            <p:cNvSpPr/>
            <p:nvPr/>
          </p:nvSpPr>
          <p:spPr>
            <a:xfrm>
              <a:off x="729494" y="3208911"/>
              <a:ext cx="602729" cy="1362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00D4FF"/>
                  </a:solidFill>
                </a:rPr>
                <a:t>MCP Servers</a:t>
              </a:r>
              <a:endParaRPr lang="en-US" sz="900" dirty="0"/>
            </a:p>
          </p:txBody>
        </p:sp>
        <p:sp>
          <p:nvSpPr>
            <p:cNvPr id="79" name="Text 10">
              <a:extLst>
                <a:ext uri="{FF2B5EF4-FFF2-40B4-BE49-F238E27FC236}">
                  <a16:creationId xmlns:a16="http://schemas.microsoft.com/office/drawing/2014/main" id="{A705771A-D3D4-0A17-E10E-FCC7CA29A63A}"/>
                </a:ext>
              </a:extLst>
            </p:cNvPr>
            <p:cNvSpPr/>
            <p:nvPr/>
          </p:nvSpPr>
          <p:spPr>
            <a:xfrm>
              <a:off x="729494" y="3376789"/>
              <a:ext cx="3541034" cy="2066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The secure, high-speed connection layer for deep research and system actions (CRM </a:t>
              </a:r>
            </a:p>
            <a:p>
              <a:pPr marL="0" indent="0" algn="l">
                <a:lnSpc>
                  <a:spcPts val="8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updates, HR actions)</a:t>
              </a:r>
              <a:endParaRPr lang="en-US" sz="800" dirty="0"/>
            </a:p>
          </p:txBody>
        </p:sp>
        <p:sp>
          <p:nvSpPr>
            <p:cNvPr id="81" name="Shape 12">
              <a:extLst>
                <a:ext uri="{FF2B5EF4-FFF2-40B4-BE49-F238E27FC236}">
                  <a16:creationId xmlns:a16="http://schemas.microsoft.com/office/drawing/2014/main" id="{6811825D-9807-1705-466A-42702ED3BB56}"/>
                </a:ext>
              </a:extLst>
            </p:cNvPr>
            <p:cNvSpPr/>
            <p:nvPr/>
          </p:nvSpPr>
          <p:spPr>
            <a:xfrm>
              <a:off x="352731" y="3771525"/>
              <a:ext cx="4291346" cy="535781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  <p:txBody>
            <a:bodyPr/>
            <a:lstStyle/>
            <a:p>
              <a:endParaRPr lang="en-IN" sz="2000" dirty="0"/>
            </a:p>
          </p:txBody>
        </p:sp>
        <p:sp>
          <p:nvSpPr>
            <p:cNvPr id="82" name="Shape 13">
              <a:extLst>
                <a:ext uri="{FF2B5EF4-FFF2-40B4-BE49-F238E27FC236}">
                  <a16:creationId xmlns:a16="http://schemas.microsoft.com/office/drawing/2014/main" id="{447F857C-99E6-CA96-3A99-CBC4FBF52EC2}"/>
                </a:ext>
              </a:extLst>
            </p:cNvPr>
            <p:cNvSpPr/>
            <p:nvPr/>
          </p:nvSpPr>
          <p:spPr>
            <a:xfrm>
              <a:off x="352731" y="3771525"/>
              <a:ext cx="429134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83" name="Shape 14">
              <a:extLst>
                <a:ext uri="{FF2B5EF4-FFF2-40B4-BE49-F238E27FC236}">
                  <a16:creationId xmlns:a16="http://schemas.microsoft.com/office/drawing/2014/main" id="{B18A35C8-5A4B-DAC9-4BFC-A3A9579BE01D}"/>
                </a:ext>
              </a:extLst>
            </p:cNvPr>
            <p:cNvSpPr/>
            <p:nvPr/>
          </p:nvSpPr>
          <p:spPr>
            <a:xfrm>
              <a:off x="4639309" y="3771525"/>
              <a:ext cx="4768" cy="535781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84" name="Shape 15">
              <a:extLst>
                <a:ext uri="{FF2B5EF4-FFF2-40B4-BE49-F238E27FC236}">
                  <a16:creationId xmlns:a16="http://schemas.microsoft.com/office/drawing/2014/main" id="{5FBDC531-A7B6-DD2B-5A84-484AE070C015}"/>
                </a:ext>
              </a:extLst>
            </p:cNvPr>
            <p:cNvSpPr/>
            <p:nvPr/>
          </p:nvSpPr>
          <p:spPr>
            <a:xfrm>
              <a:off x="352731" y="4300162"/>
              <a:ext cx="429134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85" name="Shape 16">
              <a:extLst>
                <a:ext uri="{FF2B5EF4-FFF2-40B4-BE49-F238E27FC236}">
                  <a16:creationId xmlns:a16="http://schemas.microsoft.com/office/drawing/2014/main" id="{EE806169-1E01-0F70-9417-C86DDDBC5620}"/>
                </a:ext>
              </a:extLst>
            </p:cNvPr>
            <p:cNvSpPr/>
            <p:nvPr/>
          </p:nvSpPr>
          <p:spPr>
            <a:xfrm>
              <a:off x="352731" y="3771525"/>
              <a:ext cx="14304" cy="535781"/>
            </a:xfrm>
            <a:prstGeom prst="rect">
              <a:avLst/>
            </a:prstGeom>
            <a:solidFill>
              <a:srgbClr val="00FFA3"/>
            </a:solidFill>
            <a:ln/>
          </p:spPr>
        </p:sp>
        <p:sp>
          <p:nvSpPr>
            <p:cNvPr id="86" name="Shape 17">
              <a:extLst>
                <a:ext uri="{FF2B5EF4-FFF2-40B4-BE49-F238E27FC236}">
                  <a16:creationId xmlns:a16="http://schemas.microsoft.com/office/drawing/2014/main" id="{D6F34A16-FFC8-E2C6-96EE-5B2B536401F6}"/>
                </a:ext>
              </a:extLst>
            </p:cNvPr>
            <p:cNvSpPr/>
            <p:nvPr/>
          </p:nvSpPr>
          <p:spPr>
            <a:xfrm>
              <a:off x="438558" y="3878681"/>
              <a:ext cx="214567" cy="321469"/>
            </a:xfrm>
            <a:prstGeom prst="rect">
              <a:avLst/>
            </a:prstGeom>
            <a:solidFill>
              <a:srgbClr val="00FFA3">
                <a:alpha val="10000"/>
              </a:srgbClr>
            </a:solidFill>
            <a:ln w="9144">
              <a:solidFill>
                <a:srgbClr val="00FFA3">
                  <a:alpha val="30000"/>
                </a:srgbClr>
              </a:solidFill>
              <a:prstDash val="solid"/>
            </a:ln>
          </p:spPr>
        </p:sp>
        <p:sp>
          <p:nvSpPr>
            <p:cNvPr id="87" name="Text 18">
              <a:extLst>
                <a:ext uri="{FF2B5EF4-FFF2-40B4-BE49-F238E27FC236}">
                  <a16:creationId xmlns:a16="http://schemas.microsoft.com/office/drawing/2014/main" id="{7CC02352-5FAE-D2D7-AAB2-5F4F83799343}"/>
                </a:ext>
              </a:extLst>
            </p:cNvPr>
            <p:cNvSpPr/>
            <p:nvPr/>
          </p:nvSpPr>
          <p:spPr>
            <a:xfrm>
              <a:off x="440043" y="3928327"/>
              <a:ext cx="211596" cy="2221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lnSpc>
                  <a:spcPts val="1900"/>
                </a:lnSpc>
                <a:buNone/>
              </a:pPr>
              <a:r>
                <a:rPr lang="en-US" sz="1200" dirty="0">
                  <a:solidFill>
                    <a:srgbClr val="00FFA3"/>
                  </a:solidFill>
                </a:rPr>
                <a:t>📚</a:t>
              </a:r>
              <a:endParaRPr lang="en-US" sz="1200" dirty="0"/>
            </a:p>
          </p:txBody>
        </p:sp>
        <p:sp>
          <p:nvSpPr>
            <p:cNvPr id="88" name="Text 19">
              <a:extLst>
                <a:ext uri="{FF2B5EF4-FFF2-40B4-BE49-F238E27FC236}">
                  <a16:creationId xmlns:a16="http://schemas.microsoft.com/office/drawing/2014/main" id="{31076580-F6F4-FF98-A3E9-33C3717EBFE6}"/>
                </a:ext>
              </a:extLst>
            </p:cNvPr>
            <p:cNvSpPr/>
            <p:nvPr/>
          </p:nvSpPr>
          <p:spPr>
            <a:xfrm>
              <a:off x="729416" y="3860870"/>
              <a:ext cx="1505220" cy="1362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00FFA3"/>
                  </a:solidFill>
                </a:rPr>
                <a:t>Knowledge Stores: RAG System</a:t>
              </a:r>
              <a:endParaRPr lang="en-US" sz="900" dirty="0"/>
            </a:p>
          </p:txBody>
        </p:sp>
        <p:sp>
          <p:nvSpPr>
            <p:cNvPr id="89" name="Text 20">
              <a:extLst>
                <a:ext uri="{FF2B5EF4-FFF2-40B4-BE49-F238E27FC236}">
                  <a16:creationId xmlns:a16="http://schemas.microsoft.com/office/drawing/2014/main" id="{B46EC05A-E095-FF4A-BDD0-48E66608D535}"/>
                </a:ext>
              </a:extLst>
            </p:cNvPr>
            <p:cNvSpPr/>
            <p:nvPr/>
          </p:nvSpPr>
          <p:spPr>
            <a:xfrm>
              <a:off x="729416" y="4028748"/>
              <a:ext cx="3674082" cy="2066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Retrieves precise context from documents and databases using vector and graph-based </a:t>
              </a:r>
            </a:p>
            <a:p>
              <a:pPr marL="0" indent="0" algn="l">
                <a:lnSpc>
                  <a:spcPts val="8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retrieval</a:t>
              </a:r>
              <a:endParaRPr lang="en-US" sz="800" dirty="0"/>
            </a:p>
          </p:txBody>
        </p:sp>
        <p:sp>
          <p:nvSpPr>
            <p:cNvPr id="91" name="Shape 22">
              <a:extLst>
                <a:ext uri="{FF2B5EF4-FFF2-40B4-BE49-F238E27FC236}">
                  <a16:creationId xmlns:a16="http://schemas.microsoft.com/office/drawing/2014/main" id="{CE2E7CEA-C12C-1261-B9A1-6CFC8E31F579}"/>
                </a:ext>
              </a:extLst>
            </p:cNvPr>
            <p:cNvSpPr/>
            <p:nvPr/>
          </p:nvSpPr>
          <p:spPr>
            <a:xfrm>
              <a:off x="352731" y="4423481"/>
              <a:ext cx="4291346" cy="535781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</p:sp>
        <p:sp>
          <p:nvSpPr>
            <p:cNvPr id="92" name="Shape 23">
              <a:extLst>
                <a:ext uri="{FF2B5EF4-FFF2-40B4-BE49-F238E27FC236}">
                  <a16:creationId xmlns:a16="http://schemas.microsoft.com/office/drawing/2014/main" id="{2A491654-D020-E9BA-3BDD-1E8AF437F44A}"/>
                </a:ext>
              </a:extLst>
            </p:cNvPr>
            <p:cNvSpPr/>
            <p:nvPr/>
          </p:nvSpPr>
          <p:spPr>
            <a:xfrm>
              <a:off x="352731" y="4423481"/>
              <a:ext cx="429134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93" name="Shape 24">
              <a:extLst>
                <a:ext uri="{FF2B5EF4-FFF2-40B4-BE49-F238E27FC236}">
                  <a16:creationId xmlns:a16="http://schemas.microsoft.com/office/drawing/2014/main" id="{49B88BBE-BDFB-8BE7-BDF3-46177A6F9CD3}"/>
                </a:ext>
              </a:extLst>
            </p:cNvPr>
            <p:cNvSpPr/>
            <p:nvPr/>
          </p:nvSpPr>
          <p:spPr>
            <a:xfrm>
              <a:off x="4639309" y="4423481"/>
              <a:ext cx="4768" cy="535781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94" name="Shape 25">
              <a:extLst>
                <a:ext uri="{FF2B5EF4-FFF2-40B4-BE49-F238E27FC236}">
                  <a16:creationId xmlns:a16="http://schemas.microsoft.com/office/drawing/2014/main" id="{EE4EF6C2-6BC0-133F-F3BE-5E7391083B1D}"/>
                </a:ext>
              </a:extLst>
            </p:cNvPr>
            <p:cNvSpPr/>
            <p:nvPr/>
          </p:nvSpPr>
          <p:spPr>
            <a:xfrm>
              <a:off x="352731" y="4952118"/>
              <a:ext cx="4291346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95" name="Shape 26">
              <a:extLst>
                <a:ext uri="{FF2B5EF4-FFF2-40B4-BE49-F238E27FC236}">
                  <a16:creationId xmlns:a16="http://schemas.microsoft.com/office/drawing/2014/main" id="{1B732B43-D728-6C0A-2D5C-68C1F1B100EF}"/>
                </a:ext>
              </a:extLst>
            </p:cNvPr>
            <p:cNvSpPr/>
            <p:nvPr/>
          </p:nvSpPr>
          <p:spPr>
            <a:xfrm>
              <a:off x="352731" y="4423481"/>
              <a:ext cx="14304" cy="535781"/>
            </a:xfrm>
            <a:prstGeom prst="rect">
              <a:avLst/>
            </a:prstGeom>
            <a:solidFill>
              <a:srgbClr val="00D4FF"/>
            </a:solidFill>
            <a:ln/>
          </p:spPr>
        </p:sp>
        <p:sp>
          <p:nvSpPr>
            <p:cNvPr id="96" name="Shape 27">
              <a:extLst>
                <a:ext uri="{FF2B5EF4-FFF2-40B4-BE49-F238E27FC236}">
                  <a16:creationId xmlns:a16="http://schemas.microsoft.com/office/drawing/2014/main" id="{DFC5A497-F3FE-3F06-EF72-14EDA0833230}"/>
                </a:ext>
              </a:extLst>
            </p:cNvPr>
            <p:cNvSpPr/>
            <p:nvPr/>
          </p:nvSpPr>
          <p:spPr>
            <a:xfrm>
              <a:off x="438558" y="4530637"/>
              <a:ext cx="214567" cy="321469"/>
            </a:xfrm>
            <a:prstGeom prst="rect">
              <a:avLst/>
            </a:prstGeom>
            <a:solidFill>
              <a:srgbClr val="00D4FF">
                <a:alpha val="10000"/>
              </a:srgbClr>
            </a:solidFill>
            <a:ln w="9144">
              <a:solidFill>
                <a:srgbClr val="00D4FF">
                  <a:alpha val="30000"/>
                </a:srgbClr>
              </a:solidFill>
              <a:prstDash val="solid"/>
            </a:ln>
          </p:spPr>
        </p:sp>
        <p:sp>
          <p:nvSpPr>
            <p:cNvPr id="97" name="Text 28">
              <a:extLst>
                <a:ext uri="{FF2B5EF4-FFF2-40B4-BE49-F238E27FC236}">
                  <a16:creationId xmlns:a16="http://schemas.microsoft.com/office/drawing/2014/main" id="{28FA19DA-67FF-72E6-9FDD-A11FEDB62983}"/>
                </a:ext>
              </a:extLst>
            </p:cNvPr>
            <p:cNvSpPr/>
            <p:nvPr/>
          </p:nvSpPr>
          <p:spPr>
            <a:xfrm>
              <a:off x="440043" y="4580283"/>
              <a:ext cx="211596" cy="2221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marL="0" indent="0" algn="ctr">
                <a:lnSpc>
                  <a:spcPts val="1900"/>
                </a:lnSpc>
                <a:buNone/>
              </a:pPr>
              <a:r>
                <a:rPr lang="en-US" sz="1200" dirty="0">
                  <a:solidFill>
                    <a:srgbClr val="00D4FF"/>
                  </a:solidFill>
                </a:rPr>
                <a:t>✨</a:t>
              </a:r>
              <a:endParaRPr lang="en-US" sz="1200" dirty="0"/>
            </a:p>
          </p:txBody>
        </p:sp>
        <p:sp>
          <p:nvSpPr>
            <p:cNvPr id="98" name="Text 29">
              <a:extLst>
                <a:ext uri="{FF2B5EF4-FFF2-40B4-BE49-F238E27FC236}">
                  <a16:creationId xmlns:a16="http://schemas.microsoft.com/office/drawing/2014/main" id="{8B954F95-CE3B-7BDC-BD32-BF34C4E896A3}"/>
                </a:ext>
              </a:extLst>
            </p:cNvPr>
            <p:cNvSpPr/>
            <p:nvPr/>
          </p:nvSpPr>
          <p:spPr>
            <a:xfrm>
              <a:off x="729416" y="4512826"/>
              <a:ext cx="833562" cy="1362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00D4FF"/>
                  </a:solidFill>
                </a:rPr>
                <a:t>Response Builder</a:t>
              </a:r>
              <a:endParaRPr lang="en-US" sz="900" dirty="0"/>
            </a:p>
          </p:txBody>
        </p:sp>
        <p:sp>
          <p:nvSpPr>
            <p:cNvPr id="99" name="Text 30">
              <a:extLst>
                <a:ext uri="{FF2B5EF4-FFF2-40B4-BE49-F238E27FC236}">
                  <a16:creationId xmlns:a16="http://schemas.microsoft.com/office/drawing/2014/main" id="{75145AED-D326-2747-6E4E-E6FEB52E0FF2}"/>
                </a:ext>
              </a:extLst>
            </p:cNvPr>
            <p:cNvSpPr/>
            <p:nvPr/>
          </p:nvSpPr>
          <p:spPr>
            <a:xfrm>
              <a:off x="729416" y="4680704"/>
              <a:ext cx="3230051" cy="2066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Crafts the final, validated, and actionable answer with confidence scores and </a:t>
              </a:r>
            </a:p>
            <a:p>
              <a:pPr marL="0" indent="0" algn="l">
                <a:lnSpc>
                  <a:spcPts val="800"/>
                </a:lnSpc>
                <a:buNone/>
              </a:pPr>
              <a:r>
                <a:rPr lang="en-US" sz="800" dirty="0">
                  <a:solidFill>
                    <a:srgbClr val="E8EEF5">
                      <a:alpha val="90000"/>
                    </a:srgbClr>
                  </a:solidFill>
                </a:rPr>
                <a:t>recommendations</a:t>
              </a:r>
              <a:endParaRPr lang="en-US" sz="800" dirty="0"/>
            </a:p>
          </p:txBody>
        </p:sp>
      </p:grp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EDFC5D6-29D7-AE1B-346E-1EAF349A5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574" y="929923"/>
            <a:ext cx="3710335" cy="411687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ABD0DD92-5565-ADC1-76CD-C17B29A37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516143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Key System Integrations: Connecting the Enterprise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14388"/>
            <a:ext cx="2907847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Secure, flexible integration via MCP Servers and A2A Pipelines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28625" y="1214438"/>
            <a:ext cx="1571625" cy="2657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14438"/>
            <a:ext cx="1557338" cy="21431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7" name="Text 4"/>
          <p:cNvSpPr/>
          <p:nvPr/>
        </p:nvSpPr>
        <p:spPr>
          <a:xfrm>
            <a:off x="542925" y="1357313"/>
            <a:ext cx="864019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Human Resources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2925" y="1575197"/>
            <a:ext cx="341440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4FF"/>
                </a:solidFill>
              </a:rPr>
              <a:t>HRMS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2925" y="1832372"/>
            <a:ext cx="1343025" cy="35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8EEF5">
                    <a:alpha val="90000"/>
                  </a:srgbClr>
                </a:solidFill>
              </a:rPr>
              <a:t>Employee data, PTO, roles, and organizational structure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2925" y="3354716"/>
            <a:ext cx="548227" cy="107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Connection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2925" y="3504735"/>
            <a:ext cx="1343025" cy="224303"/>
          </a:xfrm>
          <a:prstGeom prst="rect">
            <a:avLst/>
          </a:prstGeom>
          <a:solidFill>
            <a:srgbClr val="00FFA3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42925" y="3504735"/>
            <a:ext cx="14288" cy="22430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3" name="Text 10"/>
          <p:cNvSpPr/>
          <p:nvPr/>
        </p:nvSpPr>
        <p:spPr>
          <a:xfrm>
            <a:off x="542925" y="3504735"/>
            <a:ext cx="1343025" cy="25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B0B8D4"/>
                </a:solidFill>
              </a:rPr>
              <a:t>MCP Server + API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07406" y="1214438"/>
            <a:ext cx="1571625" cy="2657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07406" y="1214438"/>
            <a:ext cx="1557338" cy="21431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6" name="Text 13"/>
          <p:cNvSpPr/>
          <p:nvPr/>
        </p:nvSpPr>
        <p:spPr>
          <a:xfrm>
            <a:off x="2221706" y="1357313"/>
            <a:ext cx="942566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Customer Relations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21706" y="1575197"/>
            <a:ext cx="262892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4FF"/>
                </a:solidFill>
              </a:rPr>
              <a:t>CRM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21706" y="1832372"/>
            <a:ext cx="1343025" cy="35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8EEF5">
                    <a:alpha val="90000"/>
                  </a:srgbClr>
                </a:solidFill>
              </a:rPr>
              <a:t>Leads, accounts, tickets, and customer interactions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221706" y="3354716"/>
            <a:ext cx="548227" cy="107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Connection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21706" y="3504735"/>
            <a:ext cx="1343025" cy="224303"/>
          </a:xfrm>
          <a:prstGeom prst="rect">
            <a:avLst/>
          </a:prstGeom>
          <a:solidFill>
            <a:srgbClr val="00FFA3">
              <a:alpha val="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221706" y="3504735"/>
            <a:ext cx="14288" cy="22430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2" name="Text 19"/>
          <p:cNvSpPr/>
          <p:nvPr/>
        </p:nvSpPr>
        <p:spPr>
          <a:xfrm>
            <a:off x="2221706" y="3504735"/>
            <a:ext cx="1343025" cy="25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B0B8D4"/>
                </a:solidFill>
              </a:rPr>
              <a:t>A2A API + Event Hooks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786188" y="1214438"/>
            <a:ext cx="1571625" cy="2657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86188" y="1214438"/>
            <a:ext cx="1557338" cy="2143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3900488" y="1357313"/>
            <a:ext cx="798295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Data &amp;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900488" y="1575197"/>
            <a:ext cx="822341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4FF"/>
                </a:solidFill>
              </a:rPr>
              <a:t>SQL Databases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900488" y="1832372"/>
            <a:ext cx="1343025" cy="35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8EEF5">
                    <a:alpha val="90000"/>
                  </a:srgbClr>
                </a:solidFill>
              </a:rPr>
              <a:t>Fact tables, business records, and structured data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900488" y="3354716"/>
            <a:ext cx="548227" cy="107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Connection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900488" y="3504735"/>
            <a:ext cx="1343025" cy="224303"/>
          </a:xfrm>
          <a:prstGeom prst="rect">
            <a:avLst/>
          </a:prstGeom>
          <a:solidFill>
            <a:srgbClr val="00FFA3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900488" y="3504735"/>
            <a:ext cx="14288" cy="22430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1" name="Text 28"/>
          <p:cNvSpPr/>
          <p:nvPr/>
        </p:nvSpPr>
        <p:spPr>
          <a:xfrm>
            <a:off x="3900488" y="3504735"/>
            <a:ext cx="1343025" cy="25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B0B8D4"/>
                </a:solidFill>
              </a:rPr>
              <a:t>SQL QA Multi-Agent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64969" y="1214438"/>
            <a:ext cx="1571625" cy="2657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64969" y="1214438"/>
            <a:ext cx="1557338" cy="21431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34" name="Text 31"/>
          <p:cNvSpPr/>
          <p:nvPr/>
        </p:nvSpPr>
        <p:spPr>
          <a:xfrm>
            <a:off x="5579269" y="1357313"/>
            <a:ext cx="787075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Knowledge Base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79269" y="1575197"/>
            <a:ext cx="634789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4FF"/>
                </a:solidFill>
              </a:rPr>
              <a:t>Documents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579269" y="1832372"/>
            <a:ext cx="1343025" cy="35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8EEF5">
                    <a:alpha val="90000"/>
                  </a:srgbClr>
                </a:solidFill>
              </a:rPr>
              <a:t>Policies, SOPs, manuals, and organizational knowledge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579269" y="3354716"/>
            <a:ext cx="548227" cy="107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Connection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579269" y="3504735"/>
            <a:ext cx="1343025" cy="224303"/>
          </a:xfrm>
          <a:prstGeom prst="rect">
            <a:avLst/>
          </a:prstGeom>
          <a:solidFill>
            <a:srgbClr val="00FFA3">
              <a:alpha val="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579269" y="3504735"/>
            <a:ext cx="14288" cy="22430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0" name="Text 37"/>
          <p:cNvSpPr/>
          <p:nvPr/>
        </p:nvSpPr>
        <p:spPr>
          <a:xfrm>
            <a:off x="5579269" y="3504735"/>
            <a:ext cx="1343025" cy="257891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B0B8D4"/>
                </a:solidFill>
              </a:rPr>
              <a:t>Vector &amp; Graph RAG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143750" y="1214438"/>
            <a:ext cx="1571625" cy="2657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43750" y="1214438"/>
            <a:ext cx="1557338" cy="21431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3" name="Text 40"/>
          <p:cNvSpPr/>
          <p:nvPr/>
        </p:nvSpPr>
        <p:spPr>
          <a:xfrm>
            <a:off x="7258050" y="1357313"/>
            <a:ext cx="854401" cy="117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Support &amp; Tickets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258050" y="1575197"/>
            <a:ext cx="504946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D4FF"/>
                </a:solidFill>
              </a:rPr>
              <a:t>Ticketing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258050" y="1832372"/>
            <a:ext cx="1343025" cy="35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E8EEF5">
                    <a:alpha val="90000"/>
                  </a:srgbClr>
                </a:solidFill>
              </a:rPr>
              <a:t>Case management, automated responses, and escalations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258050" y="3354716"/>
            <a:ext cx="548227" cy="107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Connection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258050" y="3504735"/>
            <a:ext cx="1343025" cy="224303"/>
          </a:xfrm>
          <a:prstGeom prst="rect">
            <a:avLst/>
          </a:prstGeom>
          <a:solidFill>
            <a:srgbClr val="00FFA3">
              <a:alpha val="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258050" y="3504735"/>
            <a:ext cx="14288" cy="22430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49" name="Text 46"/>
          <p:cNvSpPr/>
          <p:nvPr/>
        </p:nvSpPr>
        <p:spPr>
          <a:xfrm>
            <a:off x="7258050" y="3504735"/>
            <a:ext cx="1343025" cy="373307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dirty="0">
                <a:solidFill>
                  <a:srgbClr val="B0B8D4"/>
                </a:solidFill>
              </a:rPr>
              <a:t>API + Workflow Agents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8625" y="4050506"/>
            <a:ext cx="8286750" cy="735806"/>
          </a:xfrm>
          <a:prstGeom prst="rect">
            <a:avLst/>
          </a:prstGeom>
          <a:solidFill>
            <a:srgbClr val="00FFA3">
              <a:alpha val="5000"/>
            </a:srgbClr>
          </a:solidFill>
          <a:ln w="9144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1500" y="4193381"/>
            <a:ext cx="1030603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kern="0" spc="1" dirty="0">
                <a:solidFill>
                  <a:srgbClr val="00D4FF"/>
                </a:solidFill>
              </a:rPr>
              <a:t>Integration Architecture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71500" y="4379119"/>
            <a:ext cx="8001000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CogniVox connects to your enterprise ecosystem through </a:t>
            </a:r>
            <a:r>
              <a:rPr lang="en-US" sz="800" b="1" dirty="0">
                <a:solidFill>
                  <a:srgbClr val="00FFA3"/>
                </a:solidFill>
              </a:rPr>
              <a:t>MCP Servers</a:t>
            </a:r>
            <a:r>
              <a:rPr lang="en-US" sz="900" dirty="0">
                <a:solidFill>
                  <a:srgbClr val="E8EEF5"/>
                </a:solidFill>
              </a:rPr>
              <a:t> for secure, audited inter-application execution and </a:t>
            </a:r>
            <a:r>
              <a:rPr lang="en-US" sz="800" b="1" dirty="0">
                <a:solidFill>
                  <a:srgbClr val="00FFA3"/>
                </a:solidFill>
              </a:rPr>
              <a:t>A2A Integration Pipelines</a:t>
            </a:r>
            <a:r>
              <a:rPr lang="en-US" sz="900" dirty="0">
                <a:solidFill>
                  <a:srgbClr val="E8EEF5"/>
                </a:solidFill>
              </a:rPr>
              <a:t> for real-time data synchronization and event-driven workflows.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4B9B77F-E1CB-AF3F-2509-144007BE2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705490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Intelligent Multi-Agent System: Specialized Expertise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00100"/>
            <a:ext cx="3149901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Five specialized agents coordinated by a central orchestration layer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28625" y="1128713"/>
            <a:ext cx="8286750" cy="1025128"/>
          </a:xfrm>
          <a:prstGeom prst="rect">
            <a:avLst/>
          </a:prstGeom>
          <a:solidFill>
            <a:srgbClr val="FFFFFF">
              <a:alpha val="6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26686" y="1271588"/>
            <a:ext cx="890628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kern="0" spc="1" dirty="0">
                <a:solidFill>
                  <a:srgbClr val="00FFA3"/>
                </a:solidFill>
              </a:rPr>
              <a:t>Central Coordination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748858" y="1457325"/>
            <a:ext cx="1646285" cy="178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0D4FF"/>
                </a:solidFill>
              </a:rPr>
              <a:t>Supervisor Orchestration Layer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63573" y="1693069"/>
            <a:ext cx="3016853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Routes requests to specialized agents and synthesizes responses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94305" y="1868091"/>
            <a:ext cx="955391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7B2FF7"/>
                </a:solidFill>
              </a:rPr>
              <a:t>↓ Distributes Tasks ↓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8625" y="2389584"/>
            <a:ext cx="1571625" cy="15400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2389584"/>
            <a:ext cx="1571625" cy="2143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Shape 9"/>
          <p:cNvSpPr/>
          <p:nvPr/>
        </p:nvSpPr>
        <p:spPr>
          <a:xfrm>
            <a:off x="1993106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922533"/>
            <a:ext cx="1571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71563" y="2518172"/>
            <a:ext cx="285750" cy="285750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22265" y="2571696"/>
            <a:ext cx="184346" cy="1787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D4FF"/>
                </a:solidFill>
              </a:rPr>
              <a:t>🎯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3956" y="2889647"/>
            <a:ext cx="940963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D4FF"/>
                </a:solidFill>
              </a:rPr>
              <a:t>Intent Classifier Agent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42925" y="3096090"/>
            <a:ext cx="134302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Understands user request and performs intelligent task routing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42925" y="3570368"/>
            <a:ext cx="1343025" cy="23072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2925" y="3570368"/>
            <a:ext cx="1343025" cy="2400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b="1" dirty="0">
                <a:solidFill>
                  <a:srgbClr val="E8EEF5"/>
                </a:solidFill>
              </a:rPr>
              <a:t>Task Routing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107406" y="2389584"/>
            <a:ext cx="1571625" cy="15400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107406" y="2389584"/>
            <a:ext cx="1571625" cy="21431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23" name="Shape 20"/>
          <p:cNvSpPr/>
          <p:nvPr/>
        </p:nvSpPr>
        <p:spPr>
          <a:xfrm>
            <a:off x="3671888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4" name="Shape 21"/>
          <p:cNvSpPr/>
          <p:nvPr/>
        </p:nvSpPr>
        <p:spPr>
          <a:xfrm>
            <a:off x="2107406" y="3922533"/>
            <a:ext cx="1571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5" name="Shape 22"/>
          <p:cNvSpPr/>
          <p:nvPr/>
        </p:nvSpPr>
        <p:spPr>
          <a:xfrm>
            <a:off x="2107406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6" name="Shape 23"/>
          <p:cNvSpPr/>
          <p:nvPr/>
        </p:nvSpPr>
        <p:spPr>
          <a:xfrm>
            <a:off x="2750344" y="2518172"/>
            <a:ext cx="285750" cy="285750"/>
          </a:xfrm>
          <a:prstGeom prst="rect">
            <a:avLst/>
          </a:prstGeom>
          <a:solidFill>
            <a:srgbClr val="7B2FF7">
              <a:alpha val="10000"/>
            </a:srgbClr>
          </a:solidFill>
          <a:ln w="9144">
            <a:solidFill>
              <a:srgbClr val="7B2FF7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01046" y="2571696"/>
            <a:ext cx="184346" cy="1787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B2FF7"/>
                </a:solidFill>
              </a:rPr>
              <a:t>📊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597464" y="2889647"/>
            <a:ext cx="591509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7B2FF7"/>
                </a:solidFill>
              </a:rPr>
              <a:t>SQL QA Agent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221706" y="3096090"/>
            <a:ext cx="1343025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Queries structured data and returns verified results from databases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221706" y="3570368"/>
            <a:ext cx="1343025" cy="23072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21706" y="3570368"/>
            <a:ext cx="1343025" cy="2400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b="1" dirty="0">
                <a:solidFill>
                  <a:srgbClr val="E8EEF5"/>
                </a:solidFill>
              </a:rPr>
              <a:t>Verified SQL Results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786188" y="2389584"/>
            <a:ext cx="1571625" cy="15400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786188" y="2389584"/>
            <a:ext cx="1571625" cy="21431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4" name="Shape 31"/>
          <p:cNvSpPr/>
          <p:nvPr/>
        </p:nvSpPr>
        <p:spPr>
          <a:xfrm>
            <a:off x="5350669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5" name="Shape 32"/>
          <p:cNvSpPr/>
          <p:nvPr/>
        </p:nvSpPr>
        <p:spPr>
          <a:xfrm>
            <a:off x="3786188" y="3922533"/>
            <a:ext cx="1571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6" name="Shape 33"/>
          <p:cNvSpPr/>
          <p:nvPr/>
        </p:nvSpPr>
        <p:spPr>
          <a:xfrm>
            <a:off x="3786188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429125" y="2518172"/>
            <a:ext cx="285750" cy="285750"/>
          </a:xfrm>
          <a:prstGeom prst="rect">
            <a:avLst/>
          </a:prstGeom>
          <a:solidFill>
            <a:srgbClr val="00FFA3">
              <a:alpha val="10000"/>
            </a:srgbClr>
          </a:solidFill>
          <a:ln w="9144">
            <a:solidFill>
              <a:srgbClr val="00FFA3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79827" y="2571696"/>
            <a:ext cx="184346" cy="1787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FFA3"/>
                </a:solidFill>
              </a:rPr>
              <a:t>👥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156021" y="2889647"/>
            <a:ext cx="831959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FFA3"/>
                </a:solidFill>
              </a:rPr>
              <a:t>HRMS Action Agent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900488" y="3096090"/>
            <a:ext cx="1343025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Creates or updates HR requests and manages employee workflows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900488" y="3570368"/>
            <a:ext cx="1343025" cy="23072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900488" y="3570368"/>
            <a:ext cx="1343025" cy="2400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b="1" dirty="0">
                <a:solidFill>
                  <a:srgbClr val="E8EEF5"/>
                </a:solidFill>
              </a:rPr>
              <a:t>Workflow Tickets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5464969" y="2389584"/>
            <a:ext cx="1571625" cy="15400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464969" y="2389584"/>
            <a:ext cx="1571625" cy="21431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5" name="Shape 42"/>
          <p:cNvSpPr/>
          <p:nvPr/>
        </p:nvSpPr>
        <p:spPr>
          <a:xfrm>
            <a:off x="7029450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6" name="Shape 43"/>
          <p:cNvSpPr/>
          <p:nvPr/>
        </p:nvSpPr>
        <p:spPr>
          <a:xfrm>
            <a:off x="5464969" y="3922533"/>
            <a:ext cx="1571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7" name="Shape 44"/>
          <p:cNvSpPr/>
          <p:nvPr/>
        </p:nvSpPr>
        <p:spPr>
          <a:xfrm>
            <a:off x="5464969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8" name="Shape 45"/>
          <p:cNvSpPr/>
          <p:nvPr/>
        </p:nvSpPr>
        <p:spPr>
          <a:xfrm>
            <a:off x="6107906" y="2518172"/>
            <a:ext cx="285750" cy="285750"/>
          </a:xfrm>
          <a:prstGeom prst="rect">
            <a:avLst/>
          </a:prstGeom>
          <a:solidFill>
            <a:srgbClr val="7B2FF7">
              <a:alpha val="10000"/>
            </a:srgbClr>
          </a:solidFill>
          <a:ln w="9144">
            <a:solidFill>
              <a:srgbClr val="7B2FF7">
                <a:alpha val="3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58608" y="2571696"/>
            <a:ext cx="184346" cy="1787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B2FF7"/>
                </a:solidFill>
              </a:rPr>
              <a:t>💼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858046" y="2889647"/>
            <a:ext cx="785472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7B2FF7"/>
                </a:solidFill>
              </a:rPr>
              <a:t>CRM Insight Agent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579269" y="3096090"/>
            <a:ext cx="1343025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Retrieves customer pipeline data and generates revenue forecasts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579269" y="3570368"/>
            <a:ext cx="1343025" cy="23072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579269" y="3570368"/>
            <a:ext cx="1343025" cy="2400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b="1" dirty="0">
                <a:solidFill>
                  <a:srgbClr val="E8EEF5"/>
                </a:solidFill>
              </a:rPr>
              <a:t>Revenue Reports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7143750" y="2389584"/>
            <a:ext cx="1571625" cy="15400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143750" y="2389584"/>
            <a:ext cx="1571625" cy="21431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56" name="Shape 53"/>
          <p:cNvSpPr/>
          <p:nvPr/>
        </p:nvSpPr>
        <p:spPr>
          <a:xfrm>
            <a:off x="8708231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57" name="Shape 54"/>
          <p:cNvSpPr/>
          <p:nvPr/>
        </p:nvSpPr>
        <p:spPr>
          <a:xfrm>
            <a:off x="7143750" y="3922533"/>
            <a:ext cx="1571625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58" name="Shape 55"/>
          <p:cNvSpPr/>
          <p:nvPr/>
        </p:nvSpPr>
        <p:spPr>
          <a:xfrm>
            <a:off x="7143750" y="2389584"/>
            <a:ext cx="7144" cy="154009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59" name="Shape 56"/>
          <p:cNvSpPr/>
          <p:nvPr/>
        </p:nvSpPr>
        <p:spPr>
          <a:xfrm>
            <a:off x="7786688" y="2518172"/>
            <a:ext cx="285750" cy="285750"/>
          </a:xfrm>
          <a:prstGeom prst="rect">
            <a:avLst/>
          </a:prstGeom>
          <a:solidFill>
            <a:srgbClr val="00FFA3">
              <a:alpha val="10000"/>
            </a:srgbClr>
          </a:solidFill>
          <a:ln w="9144">
            <a:solidFill>
              <a:srgbClr val="00FFA3">
                <a:alpha val="3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837390" y="2571696"/>
            <a:ext cx="184346" cy="1787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FFA3"/>
                </a:solidFill>
              </a:rPr>
              <a:t>📚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7451867" y="2889647"/>
            <a:ext cx="955390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FFA3"/>
                </a:solidFill>
              </a:rPr>
              <a:t>RAG Knowledge Agent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258050" y="3096090"/>
            <a:ext cx="1343025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Fetches policy docs and knowledge base for relevant information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7258050" y="3541793"/>
            <a:ext cx="1343025" cy="230721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258050" y="3541793"/>
            <a:ext cx="1343025" cy="2400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00" b="1" dirty="0">
                <a:solidFill>
                  <a:srgbClr val="E8EEF5"/>
                </a:solidFill>
              </a:rPr>
              <a:t>Relevant Snippets</a:t>
            </a:r>
            <a:endParaRPr lang="en-US" sz="7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A93C8F6-9923-4911-4E5F-CA306FD1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57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3486917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Agentic Workflow in Action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00100"/>
            <a:ext cx="1625445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User Request &amp; Intelligent Routing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28625" y="1128713"/>
            <a:ext cx="8286750" cy="766502"/>
          </a:xfrm>
          <a:prstGeom prst="rect">
            <a:avLst/>
          </a:prstGeom>
          <a:solidFill>
            <a:srgbClr val="7B2FF7">
              <a:alpha val="5000"/>
            </a:srgbClr>
          </a:solidFill>
          <a:ln w="18288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3567" y="1300163"/>
            <a:ext cx="496867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00FFA3"/>
                </a:solidFill>
              </a:rPr>
              <a:t>User Request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756599" y="1489472"/>
            <a:ext cx="3630802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8EEF5"/>
                </a:solidFill>
              </a:rPr>
              <a:t>"Show me the current sales pipeline and apply leave for tomorrow."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79025" y="2080952"/>
            <a:ext cx="185949" cy="24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7B2FF7">
                    <a:alpha val="60000"/>
                  </a:srgbClr>
                </a:solidFill>
              </a:rPr>
              <a:t>↓</a:t>
            </a:r>
            <a:endParaRPr lang="en-US" sz="16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7B9D9CB-4267-A3E9-01B0-A8810C953CC4}"/>
              </a:ext>
            </a:extLst>
          </p:cNvPr>
          <p:cNvGrpSpPr/>
          <p:nvPr/>
        </p:nvGrpSpPr>
        <p:grpSpPr>
          <a:xfrm>
            <a:off x="428625" y="2552440"/>
            <a:ext cx="8286750" cy="853678"/>
            <a:chOff x="428625" y="2552440"/>
            <a:chExt cx="8286750" cy="853678"/>
          </a:xfrm>
        </p:grpSpPr>
        <p:sp>
          <p:nvSpPr>
            <p:cNvPr id="9" name="Shape 6"/>
            <p:cNvSpPr/>
            <p:nvPr/>
          </p:nvSpPr>
          <p:spPr>
            <a:xfrm>
              <a:off x="428625" y="2552440"/>
              <a:ext cx="8286750" cy="853678"/>
            </a:xfrm>
            <a:prstGeom prst="rect">
              <a:avLst/>
            </a:prstGeom>
            <a:solidFill>
              <a:srgbClr val="FFFFFF">
                <a:alpha val="5000"/>
              </a:srgbClr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428625" y="2552440"/>
              <a:ext cx="8286750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11" name="Shape 8"/>
            <p:cNvSpPr/>
            <p:nvPr/>
          </p:nvSpPr>
          <p:spPr>
            <a:xfrm>
              <a:off x="8708231" y="2552440"/>
              <a:ext cx="7144" cy="853678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12" name="Shape 9"/>
            <p:cNvSpPr/>
            <p:nvPr/>
          </p:nvSpPr>
          <p:spPr>
            <a:xfrm>
              <a:off x="428625" y="3398974"/>
              <a:ext cx="8286750" cy="7144"/>
            </a:xfrm>
            <a:prstGeom prst="rect">
              <a:avLst/>
            </a:prstGeom>
            <a:solidFill>
              <a:srgbClr val="D9F9FF"/>
            </a:solidFill>
            <a:ln/>
          </p:spPr>
        </p:sp>
        <p:sp>
          <p:nvSpPr>
            <p:cNvPr id="13" name="Shape 10"/>
            <p:cNvSpPr/>
            <p:nvPr/>
          </p:nvSpPr>
          <p:spPr>
            <a:xfrm>
              <a:off x="428625" y="2552440"/>
              <a:ext cx="28575" cy="853678"/>
            </a:xfrm>
            <a:prstGeom prst="rect">
              <a:avLst/>
            </a:prstGeom>
            <a:solidFill>
              <a:srgbClr val="7B2FF7"/>
            </a:solidFill>
            <a:ln/>
          </p:spPr>
        </p:sp>
        <p:sp>
          <p:nvSpPr>
            <p:cNvPr id="14" name="Text 11"/>
            <p:cNvSpPr/>
            <p:nvPr/>
          </p:nvSpPr>
          <p:spPr>
            <a:xfrm>
              <a:off x="4045542" y="2695315"/>
              <a:ext cx="1052917" cy="1233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800" b="1" kern="0" spc="1" dirty="0">
                  <a:solidFill>
                    <a:srgbClr val="7B2FF7"/>
                  </a:solidFill>
                </a:rPr>
                <a:t>Multi-Agent Coordinator</a:t>
              </a:r>
              <a:endParaRPr lang="en-US" sz="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3651074" y="2881052"/>
              <a:ext cx="1841851" cy="1651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900" b="1" dirty="0">
                  <a:solidFill>
                    <a:srgbClr val="E8EEF5"/>
                  </a:solidFill>
                </a:rPr>
                <a:t>Intelligent Request Analysis &amp; Routing</a:t>
              </a:r>
              <a:endParaRPr lang="en-US" sz="9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860246" y="3109652"/>
              <a:ext cx="7423507" cy="1362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dirty="0">
                  <a:solidFill>
                    <a:srgbClr val="B0B8D4"/>
                  </a:solidFill>
                </a:rPr>
                <a:t>Analyzes the request to identify two distinct tasks: sales pipeline retrieval and leave request processing. Routes each task to the appropriate specialized agent.</a:t>
              </a:r>
              <a:endParaRPr lang="en-US" sz="90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4479025" y="3606143"/>
            <a:ext cx="185949" cy="24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7B2FF7">
                    <a:alpha val="60000"/>
                  </a:srgbClr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8625" y="4077630"/>
            <a:ext cx="4036219" cy="120227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4077630"/>
            <a:ext cx="4036219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457700" y="4077630"/>
            <a:ext cx="7144" cy="1202271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5272757"/>
            <a:ext cx="4036219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4077630"/>
            <a:ext cx="28575" cy="120227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2925" y="4206218"/>
            <a:ext cx="3807619" cy="21800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kern="0" spc="1" dirty="0">
                <a:solidFill>
                  <a:srgbClr val="00D4FF"/>
                </a:solidFill>
              </a:rPr>
              <a:t>📊 CRM Task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2925" y="4516971"/>
            <a:ext cx="3807619" cy="62005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938" y="4602696"/>
            <a:ext cx="573875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0FFA3"/>
                </a:solidFill>
              </a:rPr>
              <a:t>Assigned Agent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42938" y="4749143"/>
            <a:ext cx="785471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CRM Insight Agent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2938" y="4917021"/>
            <a:ext cx="2991203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Specialized in customer data, pipeline analysis, and revenue forecasting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79156" y="4077630"/>
            <a:ext cx="4036219" cy="120227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679156" y="4077630"/>
            <a:ext cx="4036219" cy="7144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0" name="Shape 27"/>
          <p:cNvSpPr/>
          <p:nvPr/>
        </p:nvSpPr>
        <p:spPr>
          <a:xfrm>
            <a:off x="8708231" y="4077630"/>
            <a:ext cx="7144" cy="1202271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1" name="Shape 28"/>
          <p:cNvSpPr/>
          <p:nvPr/>
        </p:nvSpPr>
        <p:spPr>
          <a:xfrm>
            <a:off x="4679156" y="5272757"/>
            <a:ext cx="4036219" cy="7144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2" name="Shape 29"/>
          <p:cNvSpPr/>
          <p:nvPr/>
        </p:nvSpPr>
        <p:spPr>
          <a:xfrm>
            <a:off x="4679156" y="4077630"/>
            <a:ext cx="28575" cy="1202271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3" name="Text 30"/>
          <p:cNvSpPr/>
          <p:nvPr/>
        </p:nvSpPr>
        <p:spPr>
          <a:xfrm>
            <a:off x="4793456" y="4206218"/>
            <a:ext cx="3807619" cy="21800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kern="0" spc="1" dirty="0">
                <a:solidFill>
                  <a:srgbClr val="7B2FF7"/>
                </a:solidFill>
              </a:rPr>
              <a:t>👤 HRMS Task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93456" y="4516971"/>
            <a:ext cx="3807619" cy="62005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7B2FF7">
                <a:alpha val="1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3469" y="4602696"/>
            <a:ext cx="573875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7B2FF7"/>
                </a:solidFill>
              </a:rPr>
              <a:t>Assigned Agent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893469" y="4749143"/>
            <a:ext cx="831959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HRMS Action Agent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93469" y="4917021"/>
            <a:ext cx="3132268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Specialized in employee workflows, leave management, and HR operations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28625" y="5394201"/>
            <a:ext cx="8286750" cy="342900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FFA3">
                <a:alpha val="2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49147" y="5494213"/>
            <a:ext cx="3045706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B0B8D4"/>
                </a:solidFill>
              </a:rPr>
              <a:t>Both agents execute in parallel → </a:t>
            </a:r>
            <a:r>
              <a:rPr lang="en-US" sz="800" b="1" dirty="0">
                <a:solidFill>
                  <a:srgbClr val="00FFA3"/>
                </a:solidFill>
              </a:rPr>
              <a:t>See execution details on the next slide</a:t>
            </a:r>
            <a:endParaRPr lang="en-US" sz="8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E61C443-C51C-C026-12DB-75240E84D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4200189" cy="327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D4FF"/>
                </a:solidFill>
              </a:rPr>
              <a:t>Execution &amp; Results: Parallel Processing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8625" y="757238"/>
            <a:ext cx="3087384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Both systems execute simultaneously with coordinated responses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28625" y="1085850"/>
            <a:ext cx="4000500" cy="21800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kern="0" spc="1" dirty="0">
                <a:solidFill>
                  <a:srgbClr val="00D4FF"/>
                </a:solidFill>
              </a:rPr>
              <a:t>📊 CRM Flow (Sales)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28625" y="1396603"/>
            <a:ext cx="4000500" cy="58506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96603"/>
            <a:ext cx="400050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" name="Shape 5"/>
          <p:cNvSpPr/>
          <p:nvPr/>
        </p:nvSpPr>
        <p:spPr>
          <a:xfrm>
            <a:off x="4421981" y="1396603"/>
            <a:ext cx="7144" cy="58506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974521"/>
            <a:ext cx="400050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396603"/>
            <a:ext cx="21431" cy="58506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528638" y="1482328"/>
            <a:ext cx="230832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0FFA3"/>
                </a:solidFill>
              </a:rPr>
              <a:t>Step 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28638" y="1621631"/>
            <a:ext cx="629981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Query via MCP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8638" y="1771650"/>
            <a:ext cx="260167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Connects to CRM via MCP Server to retrieve pipeline summary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367961" y="2074534"/>
            <a:ext cx="121828" cy="179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FFA3">
                    <a:alpha val="60000"/>
                  </a:srgbClr>
                </a:solidFill>
              </a:rPr>
              <a:t>↓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8625" y="2374571"/>
            <a:ext cx="4000500" cy="58506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374571"/>
            <a:ext cx="400050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421981" y="2374571"/>
            <a:ext cx="7144" cy="585062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2952490"/>
            <a:ext cx="4000500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374571"/>
            <a:ext cx="21431" cy="58506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8638" y="2460296"/>
            <a:ext cx="230832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0FFA3"/>
                </a:solidFill>
              </a:rPr>
              <a:t>Step 3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28638" y="2599599"/>
            <a:ext cx="722955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Generate Output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28638" y="2749618"/>
            <a:ext cx="258724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Returns pipeline summary, deal stages, and revenue forecasts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4875" y="1085850"/>
            <a:ext cx="4000500" cy="21800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kern="0" spc="1" dirty="0">
                <a:solidFill>
                  <a:srgbClr val="7B2FF7"/>
                </a:solidFill>
              </a:rPr>
              <a:t>👤 HRMS Flow (HR)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14875" y="1396603"/>
            <a:ext cx="4000500" cy="58506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714875" y="1396603"/>
            <a:ext cx="4000500" cy="7144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26" name="Shape 23"/>
          <p:cNvSpPr/>
          <p:nvPr/>
        </p:nvSpPr>
        <p:spPr>
          <a:xfrm>
            <a:off x="8708231" y="1396603"/>
            <a:ext cx="7144" cy="585062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27" name="Shape 24"/>
          <p:cNvSpPr/>
          <p:nvPr/>
        </p:nvSpPr>
        <p:spPr>
          <a:xfrm>
            <a:off x="4714875" y="1974521"/>
            <a:ext cx="4000500" cy="7144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28" name="Shape 25"/>
          <p:cNvSpPr/>
          <p:nvPr/>
        </p:nvSpPr>
        <p:spPr>
          <a:xfrm>
            <a:off x="4714875" y="1396603"/>
            <a:ext cx="21431" cy="585062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29" name="Text 26"/>
          <p:cNvSpPr/>
          <p:nvPr/>
        </p:nvSpPr>
        <p:spPr>
          <a:xfrm>
            <a:off x="4814888" y="1482328"/>
            <a:ext cx="230832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0FFA3"/>
                </a:solidFill>
              </a:rPr>
              <a:t>Step 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14888" y="1621631"/>
            <a:ext cx="743793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Trigger Workflow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14888" y="1771650"/>
            <a:ext cx="254877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Connects to HRMS via MCP to trigger leave request workflow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54211" y="2074534"/>
            <a:ext cx="121828" cy="179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B2FF7">
                    <a:alpha val="60000"/>
                  </a:srgbClr>
                </a:solidFill>
              </a:rPr>
              <a:t>↓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14875" y="2374571"/>
            <a:ext cx="4000500" cy="58506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714875" y="2374571"/>
            <a:ext cx="4000500" cy="7144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5" name="Shape 32"/>
          <p:cNvSpPr/>
          <p:nvPr/>
        </p:nvSpPr>
        <p:spPr>
          <a:xfrm>
            <a:off x="8708231" y="2374571"/>
            <a:ext cx="7144" cy="585062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6" name="Shape 33"/>
          <p:cNvSpPr/>
          <p:nvPr/>
        </p:nvSpPr>
        <p:spPr>
          <a:xfrm>
            <a:off x="4714875" y="2952490"/>
            <a:ext cx="4000500" cy="7144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7" name="Shape 34"/>
          <p:cNvSpPr/>
          <p:nvPr/>
        </p:nvSpPr>
        <p:spPr>
          <a:xfrm>
            <a:off x="4714875" y="2374571"/>
            <a:ext cx="21431" cy="585062"/>
          </a:xfrm>
          <a:prstGeom prst="rect">
            <a:avLst/>
          </a:prstGeom>
          <a:solidFill>
            <a:srgbClr val="EBE0FE"/>
          </a:solidFill>
          <a:ln/>
        </p:spPr>
      </p:sp>
      <p:sp>
        <p:nvSpPr>
          <p:cNvPr id="38" name="Text 35"/>
          <p:cNvSpPr/>
          <p:nvPr/>
        </p:nvSpPr>
        <p:spPr>
          <a:xfrm>
            <a:off x="4814888" y="2460296"/>
            <a:ext cx="230832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00FFA3"/>
                </a:solidFill>
              </a:rPr>
              <a:t>Step 3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814888" y="2599599"/>
            <a:ext cx="559449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Create Ticket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814888" y="2749618"/>
            <a:ext cx="283250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Generates workflow ticket for leave approval and sends notification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28625" y="3784067"/>
            <a:ext cx="8286750" cy="1002246"/>
          </a:xfrm>
          <a:prstGeom prst="rect">
            <a:avLst/>
          </a:prstGeom>
          <a:solidFill>
            <a:srgbClr val="00D4FF">
              <a:alpha val="5000"/>
            </a:srgbClr>
          </a:solidFill>
          <a:ln w="18288">
            <a:solidFill>
              <a:srgbClr val="00FFA3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7213" y="3926942"/>
            <a:ext cx="961545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00D4FF"/>
                </a:solidFill>
              </a:rPr>
              <a:t>Final Combined Response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557213" y="4116251"/>
            <a:ext cx="583493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FFA3"/>
                </a:solidFill>
              </a:rPr>
              <a:t>Sales Pipeline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57213" y="4273414"/>
            <a:ext cx="3441648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Current pipeline summary with deal stages, win probability, and revenue forecasts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643438" y="4116251"/>
            <a:ext cx="613951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FFA3"/>
                </a:solidFill>
              </a:rPr>
              <a:t>Leave Request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643438" y="4273414"/>
            <a:ext cx="2978379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Confirmation prompt for leave approval workflow with ticket reference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57213" y="4464844"/>
            <a:ext cx="8029575" cy="2071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57213" y="4464844"/>
            <a:ext cx="8029575" cy="7144"/>
          </a:xfrm>
          <a:prstGeom prst="rect">
            <a:avLst/>
          </a:prstGeom>
          <a:solidFill>
            <a:srgbClr val="CCFFED"/>
          </a:solidFill>
          <a:ln/>
        </p:spPr>
      </p:sp>
      <p:sp>
        <p:nvSpPr>
          <p:cNvPr id="49" name="Text 46"/>
          <p:cNvSpPr/>
          <p:nvPr/>
        </p:nvSpPr>
        <p:spPr>
          <a:xfrm>
            <a:off x="557213" y="4464844"/>
            <a:ext cx="8029575" cy="20922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00FFA3"/>
                </a:solidFill>
              </a:rPr>
              <a:t>Result:</a:t>
            </a:r>
            <a:r>
              <a:rPr lang="en-US" sz="800" b="1" dirty="0">
                <a:solidFill>
                  <a:srgbClr val="E8EEF5"/>
                </a:solidFill>
              </a:rPr>
              <a:t> A complex, multi-system action completed in a single, seamless interaction—no context switching, no manual coordination required</a:t>
            </a:r>
            <a:endParaRPr lang="en-US" sz="8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4B67A65-FFA2-9942-802E-D13A24716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456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285750"/>
            <a:ext cx="5906745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Business Benefits: Driving Quantifiable Impact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57188" y="714375"/>
            <a:ext cx="2063065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Measurable outcomes that deliver clear ROI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57188" y="971550"/>
            <a:ext cx="4459486" cy="66364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57188" y="971550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7" name="Shape 4"/>
          <p:cNvSpPr/>
          <p:nvPr/>
        </p:nvSpPr>
        <p:spPr>
          <a:xfrm>
            <a:off x="4809530" y="971550"/>
            <a:ext cx="7144" cy="663643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" name="Shape 5"/>
          <p:cNvSpPr/>
          <p:nvPr/>
        </p:nvSpPr>
        <p:spPr>
          <a:xfrm>
            <a:off x="357188" y="1628049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" name="Shape 6"/>
          <p:cNvSpPr/>
          <p:nvPr/>
        </p:nvSpPr>
        <p:spPr>
          <a:xfrm>
            <a:off x="357188" y="971550"/>
            <a:ext cx="28575" cy="66364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0" name="Text 7"/>
          <p:cNvSpPr/>
          <p:nvPr/>
        </p:nvSpPr>
        <p:spPr>
          <a:xfrm>
            <a:off x="471488" y="1071563"/>
            <a:ext cx="1021113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20–40% Time Savings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1488" y="1250156"/>
            <a:ext cx="979435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Reduced Manual Effort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1488" y="1410891"/>
            <a:ext cx="313707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Per employee, freeing up staff for high-value strategic work and innovation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57188" y="1692343"/>
            <a:ext cx="4459486" cy="66364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57188" y="1692343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9530" y="1692343"/>
            <a:ext cx="7144" cy="663643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6" name="Shape 13"/>
          <p:cNvSpPr/>
          <p:nvPr/>
        </p:nvSpPr>
        <p:spPr>
          <a:xfrm>
            <a:off x="357188" y="2348843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57188" y="1692343"/>
            <a:ext cx="28575" cy="663643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8" name="Text 15"/>
          <p:cNvSpPr/>
          <p:nvPr/>
        </p:nvSpPr>
        <p:spPr>
          <a:xfrm>
            <a:off x="471488" y="1792356"/>
            <a:ext cx="1218282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Minutes Instead of Hours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1488" y="1970949"/>
            <a:ext cx="997068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Faster Decision-Making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1488" y="2131684"/>
            <a:ext cx="352500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Accelerates business cycles and enables real-time responsiveness to market changes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57188" y="2413136"/>
            <a:ext cx="4459486" cy="66364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57188" y="2413136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809530" y="2413136"/>
            <a:ext cx="7144" cy="663643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4" name="Shape 21"/>
          <p:cNvSpPr/>
          <p:nvPr/>
        </p:nvSpPr>
        <p:spPr>
          <a:xfrm>
            <a:off x="357188" y="3069636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5" name="Shape 22"/>
          <p:cNvSpPr/>
          <p:nvPr/>
        </p:nvSpPr>
        <p:spPr>
          <a:xfrm>
            <a:off x="357188" y="2413136"/>
            <a:ext cx="28575" cy="66364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3"/>
          <p:cNvSpPr/>
          <p:nvPr/>
        </p:nvSpPr>
        <p:spPr>
          <a:xfrm>
            <a:off x="471488" y="2513149"/>
            <a:ext cx="1399422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Reduced Errors &amp; Audit Risks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1488" y="2691743"/>
            <a:ext cx="1005083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Consistent &amp; Compliant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1488" y="2852477"/>
            <a:ext cx="339997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Automated, validated responses ensure regulatory compliance and data accuracy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57188" y="3133930"/>
            <a:ext cx="4459486" cy="66364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57188" y="3133930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1" name="Shape 28"/>
          <p:cNvSpPr/>
          <p:nvPr/>
        </p:nvSpPr>
        <p:spPr>
          <a:xfrm>
            <a:off x="4809530" y="3133930"/>
            <a:ext cx="7144" cy="663643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2" name="Shape 29"/>
          <p:cNvSpPr/>
          <p:nvPr/>
        </p:nvSpPr>
        <p:spPr>
          <a:xfrm>
            <a:off x="357188" y="3790429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3" name="Shape 30"/>
          <p:cNvSpPr/>
          <p:nvPr/>
        </p:nvSpPr>
        <p:spPr>
          <a:xfrm>
            <a:off x="357188" y="3133930"/>
            <a:ext cx="28575" cy="663643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4" name="Text 31"/>
          <p:cNvSpPr/>
          <p:nvPr/>
        </p:nvSpPr>
        <p:spPr>
          <a:xfrm>
            <a:off x="471488" y="3233942"/>
            <a:ext cx="1202252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Higher Trust &amp; Retention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488" y="3412536"/>
            <a:ext cx="755015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Better Experience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71488" y="3573270"/>
            <a:ext cx="353141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Improved customer and employee satisfaction through faster, more accurate service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57188" y="3854723"/>
            <a:ext cx="4459486" cy="66364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57188" y="3854723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809530" y="3854723"/>
            <a:ext cx="7144" cy="663643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0" name="Shape 37"/>
          <p:cNvSpPr/>
          <p:nvPr/>
        </p:nvSpPr>
        <p:spPr>
          <a:xfrm>
            <a:off x="357188" y="4511222"/>
            <a:ext cx="4459486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1" name="Shape 38"/>
          <p:cNvSpPr/>
          <p:nvPr/>
        </p:nvSpPr>
        <p:spPr>
          <a:xfrm>
            <a:off x="357188" y="3854723"/>
            <a:ext cx="28575" cy="663643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2" name="Text 39"/>
          <p:cNvSpPr/>
          <p:nvPr/>
        </p:nvSpPr>
        <p:spPr>
          <a:xfrm>
            <a:off x="471488" y="3954735"/>
            <a:ext cx="1344920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Growth Without Headcount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71488" y="4133329"/>
            <a:ext cx="894476" cy="13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E8EEF5"/>
                </a:solidFill>
              </a:rPr>
              <a:t>Enterprise Scalability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71488" y="4294063"/>
            <a:ext cx="389369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Supports organizational growth and expansion efficiently without proportional cost increases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57188" y="4646954"/>
            <a:ext cx="4459486" cy="441461"/>
          </a:xfrm>
          <a:prstGeom prst="rect">
            <a:avLst/>
          </a:prstGeom>
          <a:solidFill>
            <a:srgbClr val="7B2FF7">
              <a:alpha val="5000"/>
            </a:srgbClr>
          </a:solidFill>
          <a:ln w="9144">
            <a:solidFill>
              <a:srgbClr val="00FFA3">
                <a:alpha val="2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1488" y="4732679"/>
            <a:ext cx="657681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700" b="1" kern="0" spc="1" dirty="0">
                <a:solidFill>
                  <a:srgbClr val="00D4FF"/>
                </a:solidFill>
              </a:rPr>
              <a:t>Investment Value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71488" y="4868410"/>
            <a:ext cx="413735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CogniVox is an investment that delivers a </a:t>
            </a:r>
            <a:r>
              <a:rPr lang="en-US" sz="800" b="1" dirty="0">
                <a:solidFill>
                  <a:srgbClr val="00FFA3"/>
                </a:solidFill>
              </a:rPr>
              <a:t>clear, measurable ROI</a:t>
            </a:r>
            <a:r>
              <a:rPr lang="en-US" sz="800" dirty="0">
                <a:solidFill>
                  <a:srgbClr val="E8EEF5"/>
                </a:solidFill>
              </a:rPr>
              <a:t> within the first deployment phase.</a:t>
            </a:r>
            <a:endParaRPr lang="en-US" sz="80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705" y="1042988"/>
            <a:ext cx="3648670" cy="395970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B7AFB81-2418-3814-C5A9-B8434BC2B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84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7103740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Technical Advantages: Robust, Secure, and Future-Proof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14388"/>
            <a:ext cx="2580835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Built for enterprise reliability and continuous evolution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28625" y="1178719"/>
            <a:ext cx="407193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78719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7" name="Shape 4"/>
          <p:cNvSpPr/>
          <p:nvPr/>
        </p:nvSpPr>
        <p:spPr>
          <a:xfrm>
            <a:off x="4493419" y="1178719"/>
            <a:ext cx="7144" cy="100012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171700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178719"/>
            <a:ext cx="28575" cy="100012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7"/>
          <p:cNvSpPr/>
          <p:nvPr/>
        </p:nvSpPr>
        <p:spPr>
          <a:xfrm>
            <a:off x="700088" y="1335881"/>
            <a:ext cx="1133324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Agent-Based Reasoning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1582341"/>
            <a:ext cx="3786188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Ensures correct workflow selection and execution every time, with transparent decision-making and audit trails for compliance.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43438" y="1178719"/>
            <a:ext cx="407193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43438" y="1178719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708231" y="1178719"/>
            <a:ext cx="7144" cy="100012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43438" y="2171700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643438" y="1178719"/>
            <a:ext cx="28575" cy="1000125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7" name="Text 14"/>
          <p:cNvSpPr/>
          <p:nvPr/>
        </p:nvSpPr>
        <p:spPr>
          <a:xfrm>
            <a:off x="4914900" y="1335881"/>
            <a:ext cx="1038746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Graph-Enhanced RAG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86313" y="1582341"/>
            <a:ext cx="3786188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Drastically reduces hallucinations and improves answer precision by leveraging knowledge graphs and semantic relationships.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625" y="2321719"/>
            <a:ext cx="407193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2321719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493419" y="2321719"/>
            <a:ext cx="7144" cy="100012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314700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2321719"/>
            <a:ext cx="28575" cy="1000125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4" name="Text 21"/>
          <p:cNvSpPr/>
          <p:nvPr/>
        </p:nvSpPr>
        <p:spPr>
          <a:xfrm>
            <a:off x="700088" y="2478881"/>
            <a:ext cx="1166986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MCP-Based Connections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" y="2725341"/>
            <a:ext cx="3786188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Allows secure, audited, and high-speed inter-application execution with standardized protocols and encryption.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43438" y="2321719"/>
            <a:ext cx="407193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643438" y="2321719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8" name="Shape 25"/>
          <p:cNvSpPr/>
          <p:nvPr/>
        </p:nvSpPr>
        <p:spPr>
          <a:xfrm>
            <a:off x="8708231" y="2321719"/>
            <a:ext cx="7144" cy="100012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643438" y="3314700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643438" y="2321719"/>
            <a:ext cx="28575" cy="1000125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31" name="Text 28"/>
          <p:cNvSpPr/>
          <p:nvPr/>
        </p:nvSpPr>
        <p:spPr>
          <a:xfrm>
            <a:off x="4914900" y="2478881"/>
            <a:ext cx="697307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Memory Layer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86313" y="2725341"/>
            <a:ext cx="3786188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Enables personalized, context-aware, and continuous conversations with persistent user interaction history and preferences.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28625" y="3464719"/>
            <a:ext cx="407193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28625" y="3464719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493419" y="3464719"/>
            <a:ext cx="7144" cy="100012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6" name="Shape 33"/>
          <p:cNvSpPr/>
          <p:nvPr/>
        </p:nvSpPr>
        <p:spPr>
          <a:xfrm>
            <a:off x="428625" y="4457700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28625" y="3464719"/>
            <a:ext cx="28575" cy="1000125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8" name="Text 35"/>
          <p:cNvSpPr/>
          <p:nvPr/>
        </p:nvSpPr>
        <p:spPr>
          <a:xfrm>
            <a:off x="700088" y="3621881"/>
            <a:ext cx="1008289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Seamless Integration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71500" y="3868341"/>
            <a:ext cx="3786188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Works with existing systems—no need to replace core software. Extends current infrastructure without disruption.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643438" y="3464719"/>
            <a:ext cx="407193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643438" y="3464719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2" name="Shape 39"/>
          <p:cNvSpPr/>
          <p:nvPr/>
        </p:nvSpPr>
        <p:spPr>
          <a:xfrm>
            <a:off x="8708231" y="3464719"/>
            <a:ext cx="7144" cy="1000125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3" name="Shape 40"/>
          <p:cNvSpPr/>
          <p:nvPr/>
        </p:nvSpPr>
        <p:spPr>
          <a:xfrm>
            <a:off x="4643438" y="4457700"/>
            <a:ext cx="407193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4" name="Shape 41"/>
          <p:cNvSpPr/>
          <p:nvPr/>
        </p:nvSpPr>
        <p:spPr>
          <a:xfrm>
            <a:off x="4643438" y="3464719"/>
            <a:ext cx="28575" cy="100012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5" name="Text 42"/>
          <p:cNvSpPr/>
          <p:nvPr/>
        </p:nvSpPr>
        <p:spPr>
          <a:xfrm>
            <a:off x="4914900" y="3621881"/>
            <a:ext cx="819135" cy="1554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Enterprise Ready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786313" y="3868341"/>
            <a:ext cx="3786188" cy="27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E8EEF5">
                    <a:alpha val="90000"/>
                  </a:srgbClr>
                </a:solidFill>
              </a:rPr>
              <a:t>Designed for scale with multi-tenant architecture, role-based access control, and comprehensive logging and monitoring.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28625" y="4607719"/>
            <a:ext cx="8286750" cy="820080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FFA3">
                <a:alpha val="2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1500" y="4750594"/>
            <a:ext cx="757067" cy="123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kern="0" spc="1" dirty="0">
                <a:solidFill>
                  <a:srgbClr val="00D4FF"/>
                </a:solidFill>
              </a:rPr>
              <a:t>Why This Matters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71500" y="4950619"/>
            <a:ext cx="8001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8EEF5"/>
                </a:solidFill>
              </a:rPr>
              <a:t>CogniVox combines cutting-edge AI techniques with enterprise-grade reliability. The result is a platform that not only delivers intelligent automation today but also adapts and improves as your organization evolves. </a:t>
            </a:r>
            <a:r>
              <a:rPr lang="en-US" sz="900" b="1" dirty="0">
                <a:solidFill>
                  <a:srgbClr val="00FFA3"/>
                </a:solidFill>
              </a:rPr>
              <a:t>No vendor lock-in, no legacy system replacement—just smarter work.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9047A04-58C7-DBB8-FE6C-9E6FA0A7B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670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617004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Deployment Roadmap: A Phased Approach to Value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800100"/>
            <a:ext cx="2875787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Structured, low-risk implementation with rapid time-to-value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92994"/>
            <a:ext cx="8286750" cy="15716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2878931"/>
            <a:ext cx="2007394" cy="173439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28625" y="2878931"/>
            <a:ext cx="2007394" cy="2857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4"/>
          <p:cNvSpPr/>
          <p:nvPr/>
        </p:nvSpPr>
        <p:spPr>
          <a:xfrm>
            <a:off x="2428875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4606184"/>
            <a:ext cx="2007394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0" name="Shape 6"/>
          <p:cNvSpPr/>
          <p:nvPr/>
        </p:nvSpPr>
        <p:spPr>
          <a:xfrm>
            <a:off x="428625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1" name="Text 7"/>
          <p:cNvSpPr/>
          <p:nvPr/>
        </p:nvSpPr>
        <p:spPr>
          <a:xfrm>
            <a:off x="528638" y="2993231"/>
            <a:ext cx="287836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00FFA3"/>
                </a:solidFill>
              </a:rPr>
              <a:t>Phase 1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28638" y="3182541"/>
            <a:ext cx="554639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Foundation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28638" y="3383989"/>
            <a:ext cx="387927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B0B8D4"/>
                </a:solidFill>
              </a:rPr>
              <a:t>3-6 Weeks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28638" y="3573298"/>
            <a:ext cx="1807369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Deploy core RAG + Multi-Agent QA. Focus: Knowledge Retrieval.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28638" y="4040432"/>
            <a:ext cx="1807369" cy="45859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8638" y="4040432"/>
            <a:ext cx="1807369" cy="4837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✓ RAG System
✓ QA Agents
✓ Knowledge Base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521744" y="2878931"/>
            <a:ext cx="2007394" cy="173439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2521744" y="2878931"/>
            <a:ext cx="2007394" cy="28575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9" name="Shape 15"/>
          <p:cNvSpPr/>
          <p:nvPr/>
        </p:nvSpPr>
        <p:spPr>
          <a:xfrm>
            <a:off x="4521994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0" name="Shape 16"/>
          <p:cNvSpPr/>
          <p:nvPr/>
        </p:nvSpPr>
        <p:spPr>
          <a:xfrm>
            <a:off x="2521744" y="4606184"/>
            <a:ext cx="2007394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1" name="Shape 17"/>
          <p:cNvSpPr/>
          <p:nvPr/>
        </p:nvSpPr>
        <p:spPr>
          <a:xfrm>
            <a:off x="2521744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2" name="Text 18"/>
          <p:cNvSpPr/>
          <p:nvPr/>
        </p:nvSpPr>
        <p:spPr>
          <a:xfrm>
            <a:off x="2621756" y="2993231"/>
            <a:ext cx="287836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7B2FF7"/>
                </a:solidFill>
              </a:rPr>
              <a:t>Phase 2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2621756" y="3182541"/>
            <a:ext cx="601127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Connectivity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621756" y="3383989"/>
            <a:ext cx="432811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B0B8D4"/>
                </a:solidFill>
              </a:rPr>
              <a:t>6-12 Weeks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2621756" y="3573298"/>
            <a:ext cx="1807369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Connect HRMS + CRM via MCP + A2A. Focus: System Insights &amp; Data Access.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621756" y="4040432"/>
            <a:ext cx="1807369" cy="45859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621756" y="4040432"/>
            <a:ext cx="1807369" cy="4837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✓ MCP Servers
✓ A2A Pipelines
✓ System Connectors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614863" y="2878931"/>
            <a:ext cx="2007394" cy="173439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4614863" y="2878931"/>
            <a:ext cx="2007394" cy="28575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30" name="Shape 26"/>
          <p:cNvSpPr/>
          <p:nvPr/>
        </p:nvSpPr>
        <p:spPr>
          <a:xfrm>
            <a:off x="6615113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1" name="Shape 27"/>
          <p:cNvSpPr/>
          <p:nvPr/>
        </p:nvSpPr>
        <p:spPr>
          <a:xfrm>
            <a:off x="4614863" y="4606184"/>
            <a:ext cx="2007394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2" name="Shape 28"/>
          <p:cNvSpPr/>
          <p:nvPr/>
        </p:nvSpPr>
        <p:spPr>
          <a:xfrm>
            <a:off x="4614863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33" name="Text 29"/>
          <p:cNvSpPr/>
          <p:nvPr/>
        </p:nvSpPr>
        <p:spPr>
          <a:xfrm>
            <a:off x="4714875" y="2993231"/>
            <a:ext cx="287836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00FFA3"/>
                </a:solidFill>
              </a:rPr>
              <a:t>Phase 3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4714875" y="3182541"/>
            <a:ext cx="581891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Automation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714875" y="3383989"/>
            <a:ext cx="477695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B0B8D4"/>
                </a:solidFill>
              </a:rPr>
              <a:t>12-18 Weeks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4714875" y="3573298"/>
            <a:ext cx="1807369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Add workflow-automation + approval agents. Focus: Action &amp; Workflow Execution.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714875" y="4040432"/>
            <a:ext cx="1807369" cy="45859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14875" y="4040432"/>
            <a:ext cx="1807369" cy="4837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✓ Workflow Agents
✓ Approval Flows
✓ Automation Rules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6707981" y="2878931"/>
            <a:ext cx="2007394" cy="173439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6707981" y="2878931"/>
            <a:ext cx="2007394" cy="28575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1" name="Shape 37"/>
          <p:cNvSpPr/>
          <p:nvPr/>
        </p:nvSpPr>
        <p:spPr>
          <a:xfrm>
            <a:off x="8708231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2" name="Shape 38"/>
          <p:cNvSpPr/>
          <p:nvPr/>
        </p:nvSpPr>
        <p:spPr>
          <a:xfrm>
            <a:off x="6707981" y="4606184"/>
            <a:ext cx="2007394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3" name="Shape 39"/>
          <p:cNvSpPr/>
          <p:nvPr/>
        </p:nvSpPr>
        <p:spPr>
          <a:xfrm>
            <a:off x="6707981" y="2878931"/>
            <a:ext cx="7144" cy="1734396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44" name="Text 40"/>
          <p:cNvSpPr/>
          <p:nvPr/>
        </p:nvSpPr>
        <p:spPr>
          <a:xfrm>
            <a:off x="6807994" y="2993231"/>
            <a:ext cx="287836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7B2FF7"/>
                </a:solidFill>
              </a:rPr>
              <a:t>Phase 4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6807994" y="3182541"/>
            <a:ext cx="335028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Scaling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807994" y="3383989"/>
            <a:ext cx="314189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b="1" dirty="0">
                <a:solidFill>
                  <a:srgbClr val="B0B8D4"/>
                </a:solidFill>
              </a:rPr>
              <a:t>Ongoing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6807994" y="3573298"/>
            <a:ext cx="1807369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8EEF5"/>
                </a:solidFill>
              </a:rPr>
              <a:t>Full organization rollout with continuous learning and new integrations. Focus: Enterprise-wide Efficiency.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6807994" y="4004714"/>
            <a:ext cx="1807369" cy="45859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807994" y="4004714"/>
            <a:ext cx="1807369" cy="4837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B0B8D4"/>
                </a:solidFill>
              </a:rPr>
              <a:t>✓ Org Rollout
✓ New Integrations
✓ Continuous Learning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428625" y="4706196"/>
            <a:ext cx="8286750" cy="553641"/>
          </a:xfrm>
          <a:prstGeom prst="rect">
            <a:avLst/>
          </a:prstGeom>
          <a:solidFill>
            <a:srgbClr val="00D4FF">
              <a:alpha val="5000"/>
            </a:srgbClr>
          </a:solidFill>
          <a:ln w="9144">
            <a:solidFill>
              <a:srgbClr val="00FFA3">
                <a:alpha val="25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102449" y="4820496"/>
            <a:ext cx="939103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00D4FF"/>
                </a:solidFill>
              </a:rPr>
              <a:t>Implementation Strategy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2267683" y="4981231"/>
            <a:ext cx="4608634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8EEF5"/>
                </a:solidFill>
              </a:rPr>
              <a:t>A </a:t>
            </a:r>
            <a:r>
              <a:rPr lang="en-US" sz="900" b="1" dirty="0">
                <a:solidFill>
                  <a:srgbClr val="00FFA3"/>
                </a:solidFill>
              </a:rPr>
              <a:t>structured, low-risk approach</a:t>
            </a:r>
            <a:r>
              <a:rPr lang="en-US" sz="900" b="1" dirty="0">
                <a:solidFill>
                  <a:srgbClr val="E8EEF5"/>
                </a:solidFill>
              </a:rPr>
              <a:t> ensures rapid time-to-value with measurable ROI at each phase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679968F-F749-2CF5-1E09-49776944A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967" y="273974"/>
            <a:ext cx="64" cy="354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450739" y="866905"/>
            <a:ext cx="3067683" cy="864394"/>
          </a:xfrm>
          <a:prstGeom prst="rect">
            <a:avLst/>
          </a:prstGeom>
          <a:solidFill>
            <a:srgbClr val="FFFFFF">
              <a:alpha val="6000"/>
            </a:srgbClr>
          </a:solidFill>
          <a:ln w="9144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23846" y="1009780"/>
            <a:ext cx="321469" cy="321469"/>
          </a:xfrm>
          <a:prstGeom prst="rect">
            <a:avLst/>
          </a:prstGeom>
          <a:solidFill>
            <a:srgbClr val="7B2FF7">
              <a:alpha val="10000"/>
            </a:srgbClr>
          </a:solidFill>
          <a:ln w="9144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61149" y="1056156"/>
            <a:ext cx="246862" cy="2287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dirty="0">
                <a:solidFill>
                  <a:srgbClr val="00D4FF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91217" y="1402686"/>
            <a:ext cx="586700" cy="1651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D4FF"/>
                </a:solidFill>
              </a:rPr>
              <a:t>Faster Work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5578" y="866905"/>
            <a:ext cx="3067683" cy="864394"/>
          </a:xfrm>
          <a:prstGeom prst="rect">
            <a:avLst/>
          </a:prstGeom>
          <a:solidFill>
            <a:srgbClr val="FFFFFF">
              <a:alpha val="6000"/>
            </a:srgbClr>
          </a:solidFill>
          <a:ln w="9144">
            <a:solidFill>
              <a:srgbClr val="7B2FF7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98685" y="1016924"/>
            <a:ext cx="321469" cy="321469"/>
          </a:xfrm>
          <a:prstGeom prst="rect">
            <a:avLst/>
          </a:prstGeom>
          <a:solidFill>
            <a:srgbClr val="00FFA3">
              <a:alpha val="10000"/>
            </a:srgbClr>
          </a:solidFill>
          <a:ln w="9144">
            <a:solidFill>
              <a:srgbClr val="7B2FF7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988" y="1063300"/>
            <a:ext cx="246862" cy="2287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dirty="0">
                <a:solidFill>
                  <a:srgbClr val="7B2FF7"/>
                </a:solidFill>
              </a:rPr>
              <a:t>🎯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69088" y="1409830"/>
            <a:ext cx="780663" cy="1651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Better Decisions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50739" y="1831311"/>
            <a:ext cx="3067683" cy="864394"/>
          </a:xfrm>
          <a:prstGeom prst="rect">
            <a:avLst/>
          </a:prstGeom>
          <a:solidFill>
            <a:srgbClr val="FFFFFF">
              <a:alpha val="6000"/>
            </a:srgbClr>
          </a:solidFill>
          <a:ln w="9144">
            <a:solidFill>
              <a:srgbClr val="00FFA3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23846" y="1974186"/>
            <a:ext cx="321469" cy="321469"/>
          </a:xfrm>
          <a:prstGeom prst="rect">
            <a:avLst/>
          </a:prstGeom>
          <a:solidFill>
            <a:srgbClr val="00D4FF">
              <a:alpha val="10000"/>
            </a:srgbClr>
          </a:solidFill>
          <a:ln w="9144">
            <a:solidFill>
              <a:srgbClr val="00FFA3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61149" y="2020562"/>
            <a:ext cx="246862" cy="2287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dirty="0">
                <a:solidFill>
                  <a:srgbClr val="00FFA3"/>
                </a:solidFill>
              </a:rPr>
              <a:t>✨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89628" y="2367093"/>
            <a:ext cx="589906" cy="1651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FFA3"/>
                </a:solidFill>
              </a:rPr>
              <a:t>Less Friction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25578" y="1831311"/>
            <a:ext cx="3067683" cy="864394"/>
          </a:xfrm>
          <a:prstGeom prst="rect">
            <a:avLst/>
          </a:prstGeom>
          <a:solidFill>
            <a:srgbClr val="FFFFFF">
              <a:alpha val="6000"/>
            </a:srgbClr>
          </a:solidFill>
          <a:ln w="9144">
            <a:solidFill>
              <a:srgbClr val="7B2FF7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98685" y="1981330"/>
            <a:ext cx="321469" cy="321469"/>
          </a:xfrm>
          <a:prstGeom prst="rect">
            <a:avLst/>
          </a:prstGeom>
          <a:solidFill>
            <a:srgbClr val="00FFA3">
              <a:alpha val="10000"/>
            </a:srgbClr>
          </a:solidFill>
          <a:ln w="9144">
            <a:solidFill>
              <a:srgbClr val="7B2FF7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988" y="2027706"/>
            <a:ext cx="246862" cy="2287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dirty="0">
                <a:solidFill>
                  <a:srgbClr val="7B2FF7"/>
                </a:solidFill>
              </a:rPr>
              <a:t>📈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76915" y="2374236"/>
            <a:ext cx="965008" cy="1651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7B2FF7"/>
                </a:solidFill>
              </a:rPr>
              <a:t>Higher Performance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450739" y="2974311"/>
            <a:ext cx="6242521" cy="825801"/>
          </a:xfrm>
          <a:prstGeom prst="rect">
            <a:avLst/>
          </a:prstGeom>
          <a:solidFill>
            <a:srgbClr val="00D4FF">
              <a:alpha val="5000"/>
            </a:srgbClr>
          </a:solidFill>
          <a:ln w="18288">
            <a:solidFill>
              <a:srgbClr val="00FFA3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02660" y="3217199"/>
            <a:ext cx="3138680" cy="199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8EEF5"/>
                </a:solidFill>
              </a:rPr>
              <a:t>We build the system. </a:t>
            </a:r>
            <a:r>
              <a:rPr lang="en-US" sz="1050" b="1" dirty="0">
                <a:solidFill>
                  <a:srgbClr val="00FFA3"/>
                </a:solidFill>
              </a:rPr>
              <a:t>Your people become future-ready.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25204" y="3502949"/>
            <a:ext cx="4693593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B0B8D4"/>
                </a:solidFill>
              </a:rPr>
              <a:t>Transform how your organization works with intelligent automation that scales with your ambitions.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450739" y="4035856"/>
            <a:ext cx="6242521" cy="805095"/>
          </a:xfrm>
          <a:prstGeom prst="rect">
            <a:avLst/>
          </a:prstGeom>
          <a:solidFill>
            <a:srgbClr val="00FFA3">
              <a:alpha val="8000"/>
            </a:srgbClr>
          </a:solidFill>
          <a:ln w="9144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90283" y="4171587"/>
            <a:ext cx="363434" cy="1102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00" b="1" kern="0" spc="1" dirty="0">
                <a:solidFill>
                  <a:srgbClr val="00D4FF"/>
                </a:solidFill>
              </a:rPr>
              <a:t>Next Step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973805" y="4346609"/>
            <a:ext cx="3196389" cy="1651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E8EEF5"/>
                </a:solidFill>
              </a:rPr>
              <a:t>Let's schedule a deep-dive technical demo and architecture review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10913" y="4575209"/>
            <a:ext cx="3722174" cy="1282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B0B8D4"/>
                </a:solidFill>
              </a:rPr>
              <a:t>Ready to enable your workforce with an </a:t>
            </a:r>
            <a:r>
              <a:rPr lang="en-US" sz="800" b="1" dirty="0">
                <a:solidFill>
                  <a:srgbClr val="00FFA3"/>
                </a:solidFill>
              </a:rPr>
              <a:t>intelligent operational co-pilot</a:t>
            </a:r>
            <a:r>
              <a:rPr lang="en-US" sz="900" dirty="0">
                <a:solidFill>
                  <a:srgbClr val="B0B8D4"/>
                </a:solidFill>
              </a:rPr>
              <a:t>? Let's talk.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1F9767-EBD1-EF5D-5977-7D035AD3D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441" y="248322"/>
            <a:ext cx="1082934" cy="537648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A71DA960-300B-92FE-FFB7-3D46FAEAE814}"/>
              </a:ext>
            </a:extLst>
          </p:cNvPr>
          <p:cNvSpPr/>
          <p:nvPr/>
        </p:nvSpPr>
        <p:spPr>
          <a:xfrm>
            <a:off x="428625" y="357188"/>
            <a:ext cx="5542351" cy="36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D4FF"/>
                </a:solidFill>
              </a:rPr>
              <a:t>Enable Your Intelligent Operational Co-Pilot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1414</Words>
  <Application>Microsoft Office PowerPoint</Application>
  <PresentationFormat>On-screen Show (16:9)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Sandeep  Mundergi</cp:lastModifiedBy>
  <cp:revision>6</cp:revision>
  <dcterms:created xsi:type="dcterms:W3CDTF">2025-11-05T06:57:19Z</dcterms:created>
  <dcterms:modified xsi:type="dcterms:W3CDTF">2025-11-05T10:54:59Z</dcterms:modified>
</cp:coreProperties>
</file>